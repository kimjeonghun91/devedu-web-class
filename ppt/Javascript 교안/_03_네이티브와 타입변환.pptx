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59" r:id="rId1"/>
  </p:sldMasterIdLst>
  <p:notesMasterIdLst>
    <p:notesMasterId r:id="rId16"/>
  </p:notesMasterIdLst>
  <p:sldIdLst>
    <p:sldId id="266" r:id="rId2"/>
    <p:sldId id="261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54C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7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10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9" d="100"/>
          <a:sy n="119" d="100"/>
        </p:scale>
        <p:origin x="392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B2E54-8ADE-1C42-B7E1-8C04B8CD0931}" type="datetimeFigureOut">
              <a:rPr kumimoji="1" lang="ko-Kore-KR" altLang="en-US" smtClean="0"/>
              <a:t>4/12/21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A6CA5-1AB8-7840-86E1-8A38211DD31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7166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목차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A11D6FC2-3699-114E-A2F5-2DF05DA32C3B}"/>
              </a:ext>
            </a:extLst>
          </p:cNvPr>
          <p:cNvSpPr/>
          <p:nvPr userDrawn="1"/>
        </p:nvSpPr>
        <p:spPr>
          <a:xfrm>
            <a:off x="445064" y="1507744"/>
            <a:ext cx="564022" cy="564022"/>
          </a:xfrm>
          <a:prstGeom prst="diamond">
            <a:avLst/>
          </a:prstGeom>
          <a:solidFill>
            <a:srgbClr val="55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3838A-BE2E-8E43-B618-8D65C885101B}"/>
              </a:ext>
            </a:extLst>
          </p:cNvPr>
          <p:cNvSpPr txBox="1"/>
          <p:nvPr userDrawn="1"/>
        </p:nvSpPr>
        <p:spPr>
          <a:xfrm>
            <a:off x="667133" y="1548617"/>
            <a:ext cx="1284642" cy="52314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INDEX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B78544-F529-9243-9639-1427C2074D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72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34C11287-0330-9147-8C4E-97969ED1571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9780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4DD148-E2F3-6F43-A830-B1DF9707D5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4567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A3EE9B3-6AC5-F94F-8261-F1619ABEB1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373347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479462A3-7C4E-9243-902A-129F0F8368E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33424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0" name="텍스트 개체 틀 4">
            <a:extLst>
              <a:ext uri="{FF2B5EF4-FFF2-40B4-BE49-F238E27FC236}">
                <a16:creationId xmlns:a16="http://schemas.microsoft.com/office/drawing/2014/main" id="{955026BC-E4E9-4E4C-A8FA-AA998F48E9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81303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37D67461-D793-1544-B693-992F84F737A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883465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5954E74E-5CB1-174E-8154-A3FD85F60F7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443542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F6C9143E-F40A-FD4B-9B91-87D3A44965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91421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112B5D26-A0CE-9341-8145-20A60E6965D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39358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94B07A4E-FE2B-E84D-AE7D-6887DCE53F9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95366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7" name="텍스트 개체 틀 4">
            <a:extLst>
              <a:ext uri="{FF2B5EF4-FFF2-40B4-BE49-F238E27FC236}">
                <a16:creationId xmlns:a16="http://schemas.microsoft.com/office/drawing/2014/main" id="{7F9D5FEC-DBD4-9B47-A8A2-76906CE8BB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0153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622927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제목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8" name="내용 개체 틀 17">
            <a:extLst>
              <a:ext uri="{FF2B5EF4-FFF2-40B4-BE49-F238E27FC236}">
                <a16:creationId xmlns:a16="http://schemas.microsoft.com/office/drawing/2014/main" id="{11EB12BD-423E-D942-AA60-48E193A3A9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26392" y="3460960"/>
            <a:ext cx="7042151" cy="535531"/>
          </a:xfrm>
        </p:spPr>
        <p:txBody>
          <a:bodyPr wrap="square" anchor="ctr" anchorCtr="0">
            <a:spAutoFit/>
          </a:bodyPr>
          <a:lstStyle>
            <a:lvl1pPr>
              <a:buNone/>
              <a:defRPr sz="3200" b="1"/>
            </a:lvl1pPr>
          </a:lstStyle>
          <a:p>
            <a:pPr lvl="0"/>
            <a:r>
              <a:rPr kumimoji="1" lang="ko-KR" altLang="en-US" dirty="0"/>
              <a:t>마스터 텍스트</a:t>
            </a:r>
            <a:endParaRPr kumimoji="1" lang="ko-Kore-KR" altLang="en-US" dirty="0"/>
          </a:p>
        </p:txBody>
      </p:sp>
      <p:sp>
        <p:nvSpPr>
          <p:cNvPr id="24" name="내용 개체 틀 23">
            <a:extLst>
              <a:ext uri="{FF2B5EF4-FFF2-40B4-BE49-F238E27FC236}">
                <a16:creationId xmlns:a16="http://schemas.microsoft.com/office/drawing/2014/main" id="{F23B5EBD-C357-6E46-AC78-8CC3CDDA81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135357" y="4052353"/>
            <a:ext cx="7042151" cy="286232"/>
          </a:xfrm>
        </p:spPr>
        <p:txBody>
          <a:bodyPr anchor="ctr" anchorCtr="0">
            <a:spAutoFit/>
          </a:bodyPr>
          <a:lstStyle>
            <a:lvl1pPr>
              <a:buNone/>
              <a:defRPr sz="1400"/>
            </a:lvl1pPr>
          </a:lstStyle>
          <a:p>
            <a:pPr lvl="0"/>
            <a:r>
              <a:rPr kumimoji="1" lang="ko-KR" altLang="en-US" dirty="0"/>
              <a:t>서브 타이틀이 들어가는 자리</a:t>
            </a:r>
            <a:endParaRPr kumimoji="1" lang="ko-Kore-KR" altLang="en-US" dirty="0"/>
          </a:p>
        </p:txBody>
      </p:sp>
      <p:sp>
        <p:nvSpPr>
          <p:cNvPr id="28" name="내용 개체 틀 27">
            <a:extLst>
              <a:ext uri="{FF2B5EF4-FFF2-40B4-BE49-F238E27FC236}">
                <a16:creationId xmlns:a16="http://schemas.microsoft.com/office/drawing/2014/main" id="{E0BAA295-AF35-8640-9328-4A9C9801DDD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5839" y="2192410"/>
            <a:ext cx="1250576" cy="2723823"/>
          </a:xfrm>
        </p:spPr>
        <p:txBody>
          <a:bodyPr wrap="square" anchor="ctr" anchorCtr="0">
            <a:spAutoFit/>
          </a:bodyPr>
          <a:lstStyle>
            <a:lvl1pPr>
              <a:buNone/>
              <a:defRPr sz="19000" b="1">
                <a:solidFill>
                  <a:srgbClr val="54CFD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77039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본문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7" name="다이아몬드 6">
            <a:extLst>
              <a:ext uri="{FF2B5EF4-FFF2-40B4-BE49-F238E27FC236}">
                <a16:creationId xmlns:a16="http://schemas.microsoft.com/office/drawing/2014/main" id="{7C1A53BE-79A1-1443-B395-F66226A9E860}"/>
              </a:ext>
            </a:extLst>
          </p:cNvPr>
          <p:cNvSpPr/>
          <p:nvPr userDrawn="1"/>
        </p:nvSpPr>
        <p:spPr>
          <a:xfrm>
            <a:off x="521264" y="389103"/>
            <a:ext cx="564022" cy="564022"/>
          </a:xfrm>
          <a:prstGeom prst="diamond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n>
                <a:noFill/>
              </a:ln>
            </a:endParaRPr>
          </a:p>
        </p:txBody>
      </p:sp>
      <p:sp>
        <p:nvSpPr>
          <p:cNvPr id="21" name="내용 개체 틀 20">
            <a:extLst>
              <a:ext uri="{FF2B5EF4-FFF2-40B4-BE49-F238E27FC236}">
                <a16:creationId xmlns:a16="http://schemas.microsoft.com/office/drawing/2014/main" id="{5CF5FC27-752C-4740-B570-7C440F0BF4F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3783" y="451302"/>
            <a:ext cx="564021" cy="424732"/>
          </a:xfrm>
        </p:spPr>
        <p:txBody>
          <a:bodyPr wrap="square" anchor="ctr" anchorCtr="0">
            <a:spAutoFit/>
          </a:bodyPr>
          <a:lstStyle>
            <a:lvl1pPr>
              <a:buNone/>
              <a:defRPr sz="2400"/>
            </a:lvl1pPr>
          </a:lstStyle>
          <a:p>
            <a:pPr lvl="0"/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3" name="내용 개체 틀 22">
            <a:extLst>
              <a:ext uri="{FF2B5EF4-FFF2-40B4-BE49-F238E27FC236}">
                <a16:creationId xmlns:a16="http://schemas.microsoft.com/office/drawing/2014/main" id="{9CBA9637-4268-E34F-A033-852CEB4858C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70323" y="492852"/>
            <a:ext cx="7507512" cy="341632"/>
          </a:xfrm>
        </p:spPr>
        <p:txBody>
          <a:bodyPr wrap="square" anchor="ctr" anchorCtr="0">
            <a:spAutoFit/>
          </a:bodyPr>
          <a:lstStyle>
            <a:lvl1pPr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내용을</a:t>
            </a:r>
            <a:r>
              <a:rPr kumimoji="1" lang="ko-KR" altLang="en-US" dirty="0"/>
              <a:t> 입력해주세요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062323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빈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817A0-D2DA-6D49-A1AD-BB38A5F3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30354D-EFF4-C740-B05B-ABA16446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CAB323-1000-AE42-8899-8B66CED31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40F8D6-EDB5-6642-890A-B46EEAB9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7161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99B43E-A874-4A44-9D5F-415AF744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0DB9CB-970A-4D4C-A927-880A96612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E738FC-4C5D-4142-8C3F-84800D865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42D97F-9D10-D045-890B-2F59FC1AF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57B2E-769E-374D-B908-27DE43920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719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8" r:id="rId1"/>
    <p:sldLayoutId id="2147484260" r:id="rId2"/>
    <p:sldLayoutId id="2147484267" r:id="rId3"/>
    <p:sldLayoutId id="214748426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F9C26C8-649C-D542-BAA7-BFA1E0C99AFE}"/>
              </a:ext>
            </a:extLst>
          </p:cNvPr>
          <p:cNvSpPr/>
          <p:nvPr/>
        </p:nvSpPr>
        <p:spPr>
          <a:xfrm>
            <a:off x="0" y="5715000"/>
            <a:ext cx="12192000" cy="970534"/>
          </a:xfrm>
          <a:prstGeom prst="rect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E8520-2EC0-DB4D-910F-FBCAECEE6417}"/>
              </a:ext>
            </a:extLst>
          </p:cNvPr>
          <p:cNvSpPr txBox="1"/>
          <p:nvPr/>
        </p:nvSpPr>
        <p:spPr>
          <a:xfrm>
            <a:off x="7816906" y="5804308"/>
            <a:ext cx="3938960" cy="523149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WEB </a:t>
            </a:r>
            <a:r>
              <a:rPr kumimoji="1" lang="ko-KR" altLang="en-US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개발 기초 과정</a:t>
            </a:r>
            <a:endParaRPr kumimoji="1" lang="ko-Kore-KR" altLang="en-US" sz="28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AAB4F-A5D2-6149-8851-416CBF5FD9F3}"/>
              </a:ext>
            </a:extLst>
          </p:cNvPr>
          <p:cNvSpPr txBox="1"/>
          <p:nvPr/>
        </p:nvSpPr>
        <p:spPr>
          <a:xfrm>
            <a:off x="7532015" y="6240726"/>
            <a:ext cx="4199575" cy="338484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16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HTML  /  CSS  /  JavaScript  /  Python</a:t>
            </a:r>
            <a:endParaRPr kumimoji="1" lang="ko-Kore-KR" altLang="en-US" sz="1600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652478-30A9-DD48-BF60-01AC02DCF526}"/>
              </a:ext>
            </a:extLst>
          </p:cNvPr>
          <p:cNvSpPr txBox="1"/>
          <p:nvPr/>
        </p:nvSpPr>
        <p:spPr>
          <a:xfrm>
            <a:off x="265234" y="5885229"/>
            <a:ext cx="7357463" cy="646260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0</a:t>
            </a:r>
            <a:r>
              <a:rPr kumimoji="1" lang="en-US" altLang="ko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3</a:t>
            </a: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kumimoji="1" lang="ko-KR" altLang="en-US" sz="36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네이티브와</a:t>
            </a:r>
            <a:r>
              <a:rPr kumimoji="1" lang="ko-KR" altLang="en-US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ko-KR" altLang="en-US" sz="36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타입변환</a:t>
            </a:r>
            <a:endParaRPr kumimoji="1" lang="ko-Kore-KR" altLang="en-US" sz="36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1028" name="Picture 4" descr="scrollTo">
            <a:extLst>
              <a:ext uri="{FF2B5EF4-FFF2-40B4-BE49-F238E27FC236}">
                <a16:creationId xmlns:a16="http://schemas.microsoft.com/office/drawing/2014/main" id="{A37EB5EB-873B-8D43-ADB5-67B561305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39" y="530543"/>
            <a:ext cx="12206651" cy="457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273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4024" y="3460960"/>
            <a:ext cx="7042151" cy="535531"/>
          </a:xfrm>
        </p:spPr>
        <p:txBody>
          <a:bodyPr/>
          <a:lstStyle/>
          <a:p>
            <a:r>
              <a:rPr lang="ko-KR" altLang="en-US" dirty="0" err="1"/>
              <a:t>네이티브</a:t>
            </a:r>
            <a:endParaRPr lang="ko-Kore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ore-KR" dirty="0"/>
              <a:t>1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3743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 err="1"/>
              <a:t>네이티브</a:t>
            </a:r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DB081-3EDD-B447-A09C-3E590BCA4EA9}"/>
              </a:ext>
            </a:extLst>
          </p:cNvPr>
          <p:cNvSpPr txBox="1"/>
          <p:nvPr/>
        </p:nvSpPr>
        <p:spPr>
          <a:xfrm>
            <a:off x="685799" y="1162879"/>
            <a:ext cx="8029629" cy="1977715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네이티브란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?</a:t>
            </a:r>
          </a:p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특정 환경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브라우저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에 종속되지 않은 </a:t>
            </a:r>
            <a:r>
              <a:rPr lang="en" altLang="ko-KR" dirty="0" err="1">
                <a:solidFill>
                  <a:schemeClr val="bg1"/>
                </a:solidFill>
                <a:latin typeface="+mn-ea"/>
              </a:rPr>
              <a:t>ESMAScript</a:t>
            </a:r>
            <a:r>
              <a:rPr lang="en" altLang="ko-KR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명세에 있는 내장 함수로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원시 값을 감싸는 객체 래퍼 이다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60AAB8-5A2D-844E-8E64-243AF757E900}"/>
              </a:ext>
            </a:extLst>
          </p:cNvPr>
          <p:cNvSpPr txBox="1"/>
          <p:nvPr/>
        </p:nvSpPr>
        <p:spPr>
          <a:xfrm>
            <a:off x="3120289" y="3066650"/>
            <a:ext cx="1539071" cy="2785307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-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" altLang="ko-KR" sz="2000" dirty="0">
                <a:solidFill>
                  <a:schemeClr val="bg1"/>
                </a:solidFill>
                <a:latin typeface="+mn-ea"/>
              </a:rPr>
              <a:t>Function()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-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" altLang="ko-KR" sz="2000" dirty="0" err="1">
                <a:solidFill>
                  <a:schemeClr val="bg1"/>
                </a:solidFill>
                <a:latin typeface="+mn-ea"/>
              </a:rPr>
              <a:t>RegExp</a:t>
            </a:r>
            <a:r>
              <a:rPr lang="en" altLang="ko-KR" sz="2000" dirty="0">
                <a:solidFill>
                  <a:schemeClr val="bg1"/>
                </a:solidFill>
                <a:latin typeface="+mn-ea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-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" altLang="ko-KR" sz="2000" dirty="0">
                <a:solidFill>
                  <a:schemeClr val="bg1"/>
                </a:solidFill>
                <a:latin typeface="+mn-ea"/>
              </a:rPr>
              <a:t>Date()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-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" altLang="ko-KR" sz="2000" dirty="0">
                <a:solidFill>
                  <a:schemeClr val="bg1"/>
                </a:solidFill>
                <a:latin typeface="+mn-ea"/>
              </a:rPr>
              <a:t>Error()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-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" altLang="ko-KR" sz="2000" dirty="0">
                <a:solidFill>
                  <a:schemeClr val="bg1"/>
                </a:solidFill>
                <a:latin typeface="+mn-ea"/>
              </a:rPr>
              <a:t>Symbol()</a:t>
            </a:r>
          </a:p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endParaRPr kumimoji="1" lang="ko-KR" altLang="en-US" sz="20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627C1A-C0A0-BA4F-B7D9-85B012FF22A7}"/>
              </a:ext>
            </a:extLst>
          </p:cNvPr>
          <p:cNvSpPr txBox="1"/>
          <p:nvPr/>
        </p:nvSpPr>
        <p:spPr>
          <a:xfrm>
            <a:off x="760711" y="3073805"/>
            <a:ext cx="1490981" cy="2785307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-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" altLang="ko-KR" sz="2000" dirty="0">
                <a:solidFill>
                  <a:schemeClr val="bg1"/>
                </a:solidFill>
                <a:latin typeface="+mn-ea"/>
              </a:rPr>
              <a:t>String()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-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" altLang="ko-KR" sz="2000" dirty="0">
                <a:solidFill>
                  <a:schemeClr val="bg1"/>
                </a:solidFill>
                <a:latin typeface="+mn-ea"/>
              </a:rPr>
              <a:t>Number()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-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" altLang="ko-KR" sz="2000" dirty="0">
                <a:solidFill>
                  <a:schemeClr val="bg1"/>
                </a:solidFill>
                <a:latin typeface="+mn-ea"/>
              </a:rPr>
              <a:t>Boolean()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-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" altLang="ko-KR" sz="2000" dirty="0">
                <a:solidFill>
                  <a:schemeClr val="bg1"/>
                </a:solidFill>
                <a:latin typeface="+mn-ea"/>
              </a:rPr>
              <a:t>Array()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+mn-ea"/>
              </a:rPr>
              <a:t>-</a:t>
            </a:r>
            <a:r>
              <a:rPr lang="ko-KR" altLang="en-US" sz="20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" altLang="ko-KR" sz="2000" dirty="0">
                <a:solidFill>
                  <a:schemeClr val="bg1"/>
                </a:solidFill>
                <a:latin typeface="+mn-ea"/>
              </a:rPr>
              <a:t>Object()</a:t>
            </a:r>
            <a:endParaRPr lang="ko-KR" altLang="en-US" sz="2000" dirty="0">
              <a:solidFill>
                <a:schemeClr val="bg1"/>
              </a:solidFill>
              <a:latin typeface="+mn-ea"/>
            </a:endParaRPr>
          </a:p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endParaRPr kumimoji="1" lang="ko-KR" altLang="en-US" sz="20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567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 err="1"/>
              <a:t>네이티브</a:t>
            </a:r>
            <a:endParaRPr lang="ko-Kore-KR" altLang="en-US" dirty="0"/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DDC2BC0E-8034-FF4A-BAB3-54130841E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36" y="1075914"/>
            <a:ext cx="72263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102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 err="1"/>
              <a:t>네이티브</a:t>
            </a:r>
            <a:endParaRPr lang="ko-Kore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6DBE7D6D-12A1-A247-9036-D9D126815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68" y="1067629"/>
            <a:ext cx="10600864" cy="453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440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 err="1"/>
              <a:t>네이티브</a:t>
            </a:r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DB081-3EDD-B447-A09C-3E590BCA4EA9}"/>
              </a:ext>
            </a:extLst>
          </p:cNvPr>
          <p:cNvSpPr txBox="1"/>
          <p:nvPr/>
        </p:nvSpPr>
        <p:spPr>
          <a:xfrm>
            <a:off x="685799" y="1073428"/>
            <a:ext cx="10985566" cy="187832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객체 </a:t>
            </a:r>
            <a:r>
              <a:rPr kumimoji="1" lang="ko-KR" altLang="en-US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래핑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(</a:t>
            </a:r>
            <a:r>
              <a:rPr kumimoji="1" lang="ko-KR" altLang="en-US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박싱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)</a:t>
            </a:r>
          </a:p>
          <a:p>
            <a:pPr algn="l" defTabSz="912813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원시 값엔 </a:t>
            </a:r>
            <a:r>
              <a:rPr lang="ko-KR" altLang="en-US" dirty="0" err="1">
                <a:solidFill>
                  <a:schemeClr val="bg1"/>
                </a:solidFill>
              </a:rPr>
              <a:t>프로퍼티나</a:t>
            </a:r>
            <a:r>
              <a:rPr lang="ko-KR" altLang="en-US" dirty="0">
                <a:solidFill>
                  <a:schemeClr val="bg1"/>
                </a:solidFill>
              </a:rPr>
              <a:t> 메서드가 없으므로 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r>
              <a:rPr lang="en" altLang="ko-KR" dirty="0">
                <a:solidFill>
                  <a:schemeClr val="bg1"/>
                </a:solidFill>
              </a:rPr>
              <a:t>length , </a:t>
            </a:r>
            <a:r>
              <a:rPr lang="en" altLang="ko-KR" dirty="0" err="1">
                <a:solidFill>
                  <a:schemeClr val="bg1"/>
                </a:solidFill>
              </a:rPr>
              <a:t>toString</a:t>
            </a:r>
            <a:r>
              <a:rPr lang="en" altLang="ko-KR" dirty="0">
                <a:solidFill>
                  <a:schemeClr val="bg1"/>
                </a:solidFill>
              </a:rPr>
              <a:t>() </a:t>
            </a:r>
            <a:r>
              <a:rPr lang="ko-KR" altLang="en-US" dirty="0">
                <a:solidFill>
                  <a:schemeClr val="bg1"/>
                </a:solidFill>
              </a:rPr>
              <a:t>등을 사용할 수 없다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따라서 이러한 메서드를 사용하려면 객체 래퍼로 </a:t>
            </a:r>
            <a:r>
              <a:rPr lang="ko-KR" altLang="en-US" dirty="0" err="1">
                <a:solidFill>
                  <a:schemeClr val="bg1"/>
                </a:solidFill>
              </a:rPr>
              <a:t>감싸줘야하는데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자바스크립트는 이를 자동으로 </a:t>
            </a:r>
            <a:r>
              <a:rPr lang="ko-KR" altLang="en-US" dirty="0" err="1">
                <a:solidFill>
                  <a:schemeClr val="bg1"/>
                </a:solidFill>
              </a:rPr>
              <a:t>래핑한다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8530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 err="1"/>
              <a:t>네이티브</a:t>
            </a:r>
            <a:endParaRPr lang="ko-Kore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5E66E346-01A9-C34C-A870-AB84E5ACB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24" y="1209193"/>
            <a:ext cx="10071298" cy="500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22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4024" y="3460960"/>
            <a:ext cx="7042151" cy="535531"/>
          </a:xfrm>
        </p:spPr>
        <p:txBody>
          <a:bodyPr/>
          <a:lstStyle/>
          <a:p>
            <a:r>
              <a:rPr lang="ko-KR" altLang="en-US" dirty="0"/>
              <a:t>타입 변환</a:t>
            </a:r>
            <a:endParaRPr lang="ko-Kore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ore-KR" dirty="0"/>
              <a:t>2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80849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타입 변환</a:t>
            </a:r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DB081-3EDD-B447-A09C-3E590BCA4EA9}"/>
              </a:ext>
            </a:extLst>
          </p:cNvPr>
          <p:cNvSpPr txBox="1"/>
          <p:nvPr/>
        </p:nvSpPr>
        <p:spPr>
          <a:xfrm>
            <a:off x="685799" y="1162879"/>
            <a:ext cx="7040577" cy="1146718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타입변환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(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형 변환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)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이란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?</a:t>
            </a:r>
          </a:p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형 변환은 프로그래밍에서 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자료형을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다른 형태로 변경하는 것이다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CC3789AC-191F-ED48-9329-19AB1E5A8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793" y="2469874"/>
            <a:ext cx="7302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521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타입 변환</a:t>
            </a:r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DB081-3EDD-B447-A09C-3E590BCA4EA9}"/>
              </a:ext>
            </a:extLst>
          </p:cNvPr>
          <p:cNvSpPr txBox="1"/>
          <p:nvPr/>
        </p:nvSpPr>
        <p:spPr>
          <a:xfrm>
            <a:off x="685799" y="1162879"/>
            <a:ext cx="3653431" cy="1154091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ToString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문자열이 아닌 값을 문자열로 변환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6C5AC6DD-9C7D-9E4E-98D8-F2705146F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29" y="2316970"/>
            <a:ext cx="82931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208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타입 변환</a:t>
            </a:r>
            <a:endParaRPr lang="ko-Kore-KR" altLang="en-US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0469DD5D-3B0C-CF49-92C8-146553D86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804" y="1068251"/>
            <a:ext cx="8496300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662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타입 변환</a:t>
            </a:r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DB081-3EDD-B447-A09C-3E590BCA4EA9}"/>
              </a:ext>
            </a:extLst>
          </p:cNvPr>
          <p:cNvSpPr txBox="1"/>
          <p:nvPr/>
        </p:nvSpPr>
        <p:spPr>
          <a:xfrm>
            <a:off x="685799" y="1162879"/>
            <a:ext cx="5796646" cy="1155054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ToNumber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숫자가 아닌 값을 수식 연산이 가능한 숫자 로 변환 한다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33409D1-9F16-1E44-9367-B16A856C6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793" y="2604778"/>
            <a:ext cx="8496300" cy="28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91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타입 변환</a:t>
            </a:r>
            <a:endParaRPr lang="ko-Kore-KR" altLang="en-US" dirty="0"/>
          </a:p>
        </p:txBody>
      </p:sp>
      <p:pic>
        <p:nvPicPr>
          <p:cNvPr id="6" name="그림 5" descr="텍스트, 테이블이(가) 표시된 사진&#10;&#10;자동 생성된 설명">
            <a:extLst>
              <a:ext uri="{FF2B5EF4-FFF2-40B4-BE49-F238E27FC236}">
                <a16:creationId xmlns:a16="http://schemas.microsoft.com/office/drawing/2014/main" id="{F9277288-EBB6-6848-A7E1-696105956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90" y="1016828"/>
            <a:ext cx="9017000" cy="39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74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타입 변환</a:t>
            </a:r>
            <a:endParaRPr lang="ko-Kore-KR" altLang="en-US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B3ACF6E3-FF2C-D14A-8777-4791B15E1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1241839"/>
            <a:ext cx="9944100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274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91374" tIns="45685" rIns="91374" bIns="45685">
        <a:spAutoFit/>
      </a:bodyPr>
      <a:lstStyle>
        <a:defPPr algn="l" defTabSz="912813" fontAlgn="base">
          <a:spcBef>
            <a:spcPts val="600"/>
          </a:spcBef>
          <a:spcAft>
            <a:spcPct val="0"/>
          </a:spcAft>
          <a:defRPr kumimoji="1" sz="2000" b="1" dirty="0" err="1">
            <a:ln>
              <a:solidFill>
                <a:schemeClr val="bg1">
                  <a:lumMod val="85000"/>
                  <a:alpha val="0"/>
                </a:schemeClr>
              </a:solidFill>
            </a:ln>
            <a:solidFill>
              <a:srgbClr val="4B465E"/>
            </a:solidFill>
            <a:latin typeface="맑은 고딕" pitchFamily="50" charset="-127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180</Words>
  <Application>Microsoft Macintosh PowerPoint</Application>
  <PresentationFormat>와이드스크린</PresentationFormat>
  <Paragraphs>69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批量名称</dc:creator>
  <cp:lastModifiedBy>批量名称</cp:lastModifiedBy>
  <cp:revision>168</cp:revision>
  <dcterms:created xsi:type="dcterms:W3CDTF">2020-12-17T04:08:04Z</dcterms:created>
  <dcterms:modified xsi:type="dcterms:W3CDTF">2021-04-12T07:25:47Z</dcterms:modified>
</cp:coreProperties>
</file>