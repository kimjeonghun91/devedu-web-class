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59" r:id="rId1"/>
  </p:sldMasterIdLst>
  <p:notesMasterIdLst>
    <p:notesMasterId r:id="rId15"/>
  </p:notesMasterIdLst>
  <p:sldIdLst>
    <p:sldId id="266" r:id="rId2"/>
    <p:sldId id="261" r:id="rId3"/>
    <p:sldId id="268" r:id="rId4"/>
    <p:sldId id="267" r:id="rId5"/>
    <p:sldId id="269" r:id="rId6"/>
    <p:sldId id="271" r:id="rId7"/>
    <p:sldId id="270" r:id="rId8"/>
    <p:sldId id="262" r:id="rId9"/>
    <p:sldId id="272" r:id="rId10"/>
    <p:sldId id="273" r:id="rId11"/>
    <p:sldId id="274" r:id="rId12"/>
    <p:sldId id="275" r:id="rId13"/>
    <p:sldId id="276" r:id="rId14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54CF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3"/>
    <p:restoredTop sz="96327"/>
  </p:normalViewPr>
  <p:slideViewPr>
    <p:cSldViewPr snapToGrid="0" snapToObjects="1">
      <p:cViewPr varScale="1">
        <p:scale>
          <a:sx n="124" d="100"/>
          <a:sy n="124" d="100"/>
        </p:scale>
        <p:origin x="5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9" d="100"/>
          <a:sy n="119" d="100"/>
        </p:scale>
        <p:origin x="392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B2E54-8ADE-1C42-B7E1-8C04B8CD0931}" type="datetimeFigureOut">
              <a:rPr kumimoji="1" lang="ko-Kore-KR" altLang="en-US" smtClean="0"/>
              <a:t>4/12/21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A6CA5-1AB8-7840-86E1-8A38211DD31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7166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목차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8" name="다이아몬드 7">
            <a:extLst>
              <a:ext uri="{FF2B5EF4-FFF2-40B4-BE49-F238E27FC236}">
                <a16:creationId xmlns:a16="http://schemas.microsoft.com/office/drawing/2014/main" id="{A11D6FC2-3699-114E-A2F5-2DF05DA32C3B}"/>
              </a:ext>
            </a:extLst>
          </p:cNvPr>
          <p:cNvSpPr/>
          <p:nvPr userDrawn="1"/>
        </p:nvSpPr>
        <p:spPr>
          <a:xfrm>
            <a:off x="445064" y="1507744"/>
            <a:ext cx="564022" cy="564022"/>
          </a:xfrm>
          <a:prstGeom prst="diamond">
            <a:avLst/>
          </a:prstGeom>
          <a:solidFill>
            <a:srgbClr val="55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3838A-BE2E-8E43-B618-8D65C885101B}"/>
              </a:ext>
            </a:extLst>
          </p:cNvPr>
          <p:cNvSpPr txBox="1"/>
          <p:nvPr userDrawn="1"/>
        </p:nvSpPr>
        <p:spPr>
          <a:xfrm>
            <a:off x="667133" y="1548617"/>
            <a:ext cx="1284642" cy="523149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INDEX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B78544-F529-9243-9639-1427C2074D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72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34C11287-0330-9147-8C4E-97969ED1571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9780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4DD148-E2F3-6F43-A830-B1DF9707D5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4567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A3EE9B3-6AC5-F94F-8261-F1619ABEB16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373347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8" name="내용 개체 틀 2">
            <a:extLst>
              <a:ext uri="{FF2B5EF4-FFF2-40B4-BE49-F238E27FC236}">
                <a16:creationId xmlns:a16="http://schemas.microsoft.com/office/drawing/2014/main" id="{479462A3-7C4E-9243-902A-129F0F8368E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33424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0" name="텍스트 개체 틀 4">
            <a:extLst>
              <a:ext uri="{FF2B5EF4-FFF2-40B4-BE49-F238E27FC236}">
                <a16:creationId xmlns:a16="http://schemas.microsoft.com/office/drawing/2014/main" id="{955026BC-E4E9-4E4C-A8FA-AA998F48E9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81303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1" name="내용 개체 틀 2">
            <a:extLst>
              <a:ext uri="{FF2B5EF4-FFF2-40B4-BE49-F238E27FC236}">
                <a16:creationId xmlns:a16="http://schemas.microsoft.com/office/drawing/2014/main" id="{37D67461-D793-1544-B693-992F84F737A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883465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3" name="내용 개체 틀 2">
            <a:extLst>
              <a:ext uri="{FF2B5EF4-FFF2-40B4-BE49-F238E27FC236}">
                <a16:creationId xmlns:a16="http://schemas.microsoft.com/office/drawing/2014/main" id="{5954E74E-5CB1-174E-8154-A3FD85F60F7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443542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F6C9143E-F40A-FD4B-9B91-87D3A44965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91421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5" name="내용 개체 틀 2">
            <a:extLst>
              <a:ext uri="{FF2B5EF4-FFF2-40B4-BE49-F238E27FC236}">
                <a16:creationId xmlns:a16="http://schemas.microsoft.com/office/drawing/2014/main" id="{112B5D26-A0CE-9341-8145-20A60E6965D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39358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6" name="내용 개체 틀 2">
            <a:extLst>
              <a:ext uri="{FF2B5EF4-FFF2-40B4-BE49-F238E27FC236}">
                <a16:creationId xmlns:a16="http://schemas.microsoft.com/office/drawing/2014/main" id="{94B07A4E-FE2B-E84D-AE7D-6887DCE53F9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95366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7" name="텍스트 개체 틀 4">
            <a:extLst>
              <a:ext uri="{FF2B5EF4-FFF2-40B4-BE49-F238E27FC236}">
                <a16:creationId xmlns:a16="http://schemas.microsoft.com/office/drawing/2014/main" id="{7F9D5FEC-DBD4-9B47-A8A2-76906CE8BB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0153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622927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제목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8" name="내용 개체 틀 17">
            <a:extLst>
              <a:ext uri="{FF2B5EF4-FFF2-40B4-BE49-F238E27FC236}">
                <a16:creationId xmlns:a16="http://schemas.microsoft.com/office/drawing/2014/main" id="{11EB12BD-423E-D942-AA60-48E193A3A9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26392" y="3460960"/>
            <a:ext cx="7042151" cy="535531"/>
          </a:xfrm>
        </p:spPr>
        <p:txBody>
          <a:bodyPr wrap="square" anchor="ctr" anchorCtr="0">
            <a:spAutoFit/>
          </a:bodyPr>
          <a:lstStyle>
            <a:lvl1pPr>
              <a:buNone/>
              <a:defRPr sz="3200" b="1"/>
            </a:lvl1pPr>
          </a:lstStyle>
          <a:p>
            <a:pPr lvl="0"/>
            <a:r>
              <a:rPr kumimoji="1" lang="ko-KR" altLang="en-US" dirty="0"/>
              <a:t>마스터 텍스트</a:t>
            </a:r>
            <a:endParaRPr kumimoji="1" lang="ko-Kore-KR" altLang="en-US" dirty="0"/>
          </a:p>
        </p:txBody>
      </p:sp>
      <p:sp>
        <p:nvSpPr>
          <p:cNvPr id="24" name="내용 개체 틀 23">
            <a:extLst>
              <a:ext uri="{FF2B5EF4-FFF2-40B4-BE49-F238E27FC236}">
                <a16:creationId xmlns:a16="http://schemas.microsoft.com/office/drawing/2014/main" id="{F23B5EBD-C357-6E46-AC78-8CC3CDDA81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135357" y="4052353"/>
            <a:ext cx="7042151" cy="286232"/>
          </a:xfrm>
        </p:spPr>
        <p:txBody>
          <a:bodyPr anchor="ctr" anchorCtr="0">
            <a:spAutoFit/>
          </a:bodyPr>
          <a:lstStyle>
            <a:lvl1pPr>
              <a:buNone/>
              <a:defRPr sz="1400"/>
            </a:lvl1pPr>
          </a:lstStyle>
          <a:p>
            <a:pPr lvl="0"/>
            <a:r>
              <a:rPr kumimoji="1" lang="ko-KR" altLang="en-US" dirty="0"/>
              <a:t>서브 타이틀이 들어가는 자리</a:t>
            </a:r>
            <a:endParaRPr kumimoji="1" lang="ko-Kore-KR" altLang="en-US" dirty="0"/>
          </a:p>
        </p:txBody>
      </p:sp>
      <p:sp>
        <p:nvSpPr>
          <p:cNvPr id="28" name="내용 개체 틀 27">
            <a:extLst>
              <a:ext uri="{FF2B5EF4-FFF2-40B4-BE49-F238E27FC236}">
                <a16:creationId xmlns:a16="http://schemas.microsoft.com/office/drawing/2014/main" id="{E0BAA295-AF35-8640-9328-4A9C9801DDD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5839" y="2192410"/>
            <a:ext cx="1250576" cy="2723823"/>
          </a:xfrm>
        </p:spPr>
        <p:txBody>
          <a:bodyPr wrap="square" anchor="ctr" anchorCtr="0">
            <a:spAutoFit/>
          </a:bodyPr>
          <a:lstStyle>
            <a:lvl1pPr>
              <a:buNone/>
              <a:defRPr sz="19000" b="1">
                <a:solidFill>
                  <a:srgbClr val="54CFD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77039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본문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7" name="다이아몬드 6">
            <a:extLst>
              <a:ext uri="{FF2B5EF4-FFF2-40B4-BE49-F238E27FC236}">
                <a16:creationId xmlns:a16="http://schemas.microsoft.com/office/drawing/2014/main" id="{7C1A53BE-79A1-1443-B395-F66226A9E860}"/>
              </a:ext>
            </a:extLst>
          </p:cNvPr>
          <p:cNvSpPr/>
          <p:nvPr userDrawn="1"/>
        </p:nvSpPr>
        <p:spPr>
          <a:xfrm>
            <a:off x="521264" y="389103"/>
            <a:ext cx="564022" cy="564022"/>
          </a:xfrm>
          <a:prstGeom prst="diamond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n>
                <a:noFill/>
              </a:ln>
            </a:endParaRPr>
          </a:p>
        </p:txBody>
      </p:sp>
      <p:sp>
        <p:nvSpPr>
          <p:cNvPr id="21" name="내용 개체 틀 20">
            <a:extLst>
              <a:ext uri="{FF2B5EF4-FFF2-40B4-BE49-F238E27FC236}">
                <a16:creationId xmlns:a16="http://schemas.microsoft.com/office/drawing/2014/main" id="{5CF5FC27-752C-4740-B570-7C440F0BF4F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3783" y="451302"/>
            <a:ext cx="564021" cy="424732"/>
          </a:xfrm>
        </p:spPr>
        <p:txBody>
          <a:bodyPr wrap="square" anchor="ctr" anchorCtr="0">
            <a:spAutoFit/>
          </a:bodyPr>
          <a:lstStyle>
            <a:lvl1pPr>
              <a:buNone/>
              <a:defRPr sz="2400"/>
            </a:lvl1pPr>
          </a:lstStyle>
          <a:p>
            <a:pPr lvl="0"/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3" name="내용 개체 틀 22">
            <a:extLst>
              <a:ext uri="{FF2B5EF4-FFF2-40B4-BE49-F238E27FC236}">
                <a16:creationId xmlns:a16="http://schemas.microsoft.com/office/drawing/2014/main" id="{9CBA9637-4268-E34F-A033-852CEB4858C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70323" y="492852"/>
            <a:ext cx="7507512" cy="341632"/>
          </a:xfrm>
        </p:spPr>
        <p:txBody>
          <a:bodyPr wrap="square" anchor="ctr" anchorCtr="0">
            <a:spAutoFit/>
          </a:bodyPr>
          <a:lstStyle>
            <a:lvl1pPr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내용을</a:t>
            </a:r>
            <a:r>
              <a:rPr kumimoji="1" lang="ko-KR" altLang="en-US" dirty="0"/>
              <a:t> 입력해주세요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062323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빈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A817A0-D2DA-6D49-A1AD-BB38A5F3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30354D-EFF4-C740-B05B-ABA164468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CAB323-1000-AE42-8899-8B66CED31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40F8D6-EDB5-6642-890A-B46EEAB9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7161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99B43E-A874-4A44-9D5F-415AF744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0DB9CB-970A-4D4C-A927-880A96612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E738FC-4C5D-4142-8C3F-84800D865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42D97F-9D10-D045-890B-2F59FC1AF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57B2E-769E-374D-B908-27DE43920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4719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8" r:id="rId1"/>
    <p:sldLayoutId id="2147484260" r:id="rId2"/>
    <p:sldLayoutId id="2147484267" r:id="rId3"/>
    <p:sldLayoutId id="214748426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F9C26C8-649C-D542-BAA7-BFA1E0C99AFE}"/>
              </a:ext>
            </a:extLst>
          </p:cNvPr>
          <p:cNvSpPr/>
          <p:nvPr/>
        </p:nvSpPr>
        <p:spPr>
          <a:xfrm>
            <a:off x="0" y="5715000"/>
            <a:ext cx="12192000" cy="970534"/>
          </a:xfrm>
          <a:prstGeom prst="rect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E8520-2EC0-DB4D-910F-FBCAECEE6417}"/>
              </a:ext>
            </a:extLst>
          </p:cNvPr>
          <p:cNvSpPr txBox="1"/>
          <p:nvPr/>
        </p:nvSpPr>
        <p:spPr>
          <a:xfrm>
            <a:off x="7816906" y="5804308"/>
            <a:ext cx="3938960" cy="523149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WEB </a:t>
            </a:r>
            <a:r>
              <a:rPr kumimoji="1" lang="ko-KR" altLang="en-US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개발 기초 과정</a:t>
            </a:r>
            <a:endParaRPr kumimoji="1" lang="ko-Kore-KR" altLang="en-US" sz="28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AAB4F-A5D2-6149-8851-416CBF5FD9F3}"/>
              </a:ext>
            </a:extLst>
          </p:cNvPr>
          <p:cNvSpPr txBox="1"/>
          <p:nvPr/>
        </p:nvSpPr>
        <p:spPr>
          <a:xfrm>
            <a:off x="7532015" y="6240726"/>
            <a:ext cx="4199575" cy="338484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16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HTML  /  CSS  /  JavaScript  /  Python</a:t>
            </a:r>
            <a:endParaRPr kumimoji="1" lang="ko-Kore-KR" altLang="en-US" sz="1600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652478-30A9-DD48-BF60-01AC02DCF526}"/>
              </a:ext>
            </a:extLst>
          </p:cNvPr>
          <p:cNvSpPr txBox="1"/>
          <p:nvPr/>
        </p:nvSpPr>
        <p:spPr>
          <a:xfrm>
            <a:off x="265234" y="5885229"/>
            <a:ext cx="7357463" cy="646260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01. </a:t>
            </a:r>
            <a:r>
              <a:rPr kumimoji="1" lang="ko-KR" altLang="en-US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자바스크립트란</a:t>
            </a:r>
            <a:r>
              <a:rPr kumimoji="1" lang="en-US" altLang="ko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?</a:t>
            </a:r>
            <a:endParaRPr kumimoji="1" lang="ko-Kore-KR" altLang="en-US" sz="36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1028" name="Picture 4" descr="scrollTo">
            <a:extLst>
              <a:ext uri="{FF2B5EF4-FFF2-40B4-BE49-F238E27FC236}">
                <a16:creationId xmlns:a16="http://schemas.microsoft.com/office/drawing/2014/main" id="{A37EB5EB-873B-8D43-ADB5-67B561305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39" y="530543"/>
            <a:ext cx="12206651" cy="4577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0273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A7D45-296B-5F4A-B4C7-7EA45472CD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94024" y="3460960"/>
            <a:ext cx="7042151" cy="535531"/>
          </a:xfrm>
        </p:spPr>
        <p:txBody>
          <a:bodyPr/>
          <a:lstStyle/>
          <a:p>
            <a:r>
              <a:rPr lang="ko-KR" altLang="en-US" dirty="0"/>
              <a:t>자바스크립트란</a:t>
            </a:r>
            <a:r>
              <a:rPr lang="en-US" altLang="ko-KR" dirty="0"/>
              <a:t>?</a:t>
            </a:r>
            <a:endParaRPr lang="ko-Kore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E95281-7B3F-3943-A8CD-F4D72E7B544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ore-KR" dirty="0"/>
              <a:t>1</a:t>
            </a:r>
            <a:endParaRPr lang="ko-Kore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BEDE63-39BD-CC40-B540-B096441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37438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자바스크립트란</a:t>
            </a:r>
            <a:r>
              <a:rPr lang="en-US" altLang="ko-KR" dirty="0"/>
              <a:t>?</a:t>
            </a:r>
            <a:endParaRPr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DB081-3EDD-B447-A09C-3E590BCA4EA9}"/>
              </a:ext>
            </a:extLst>
          </p:cNvPr>
          <p:cNvSpPr txBox="1"/>
          <p:nvPr/>
        </p:nvSpPr>
        <p:spPr>
          <a:xfrm>
            <a:off x="685799" y="1162879"/>
            <a:ext cx="10621621" cy="3262361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algn="l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개요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algn="l"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자바스크립트는 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1995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년에 </a:t>
            </a:r>
            <a:r>
              <a:rPr kumimoji="1" lang="ko-KR" altLang="en-US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넷스케이프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Netscape)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의 </a:t>
            </a:r>
            <a:r>
              <a:rPr kumimoji="1" lang="ko-KR" altLang="en-US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브렌던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kumimoji="1" lang="ko-KR" altLang="en-US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아이크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Brendan </a:t>
            </a:r>
            <a:r>
              <a:rPr kumimoji="1" lang="en" altLang="ko-KR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Eich</a:t>
            </a: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)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에 의해 만들어졌다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처음에는 </a:t>
            </a:r>
            <a:r>
              <a:rPr kumimoji="1" lang="ko-KR" altLang="en-US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모카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Mocha)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라는 이름으로 개발되었으나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그 후에 라이브스크립트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kumimoji="1" lang="en" altLang="ko-KR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LiveScript</a:t>
            </a: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),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최종적으로는 자바스크립트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JavaScript)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라는 이름으로 변경된다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.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JavaScript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는 인터프리터 언어이자 객체 기반의 스크립트 프로그래밍 언어이며 </a:t>
            </a:r>
            <a:endParaRPr kumimoji="1" lang="en-US" altLang="ko-KR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HTML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의 특정 요소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들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)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을 선택하여 다양한 이벤트 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마우스 클릭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키보드 입력 등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)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에 따라 </a:t>
            </a:r>
            <a:endParaRPr kumimoji="1" lang="en-US" altLang="ko-KR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동적인 처리가 가능하다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2567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자바스크립트란</a:t>
            </a:r>
            <a:r>
              <a:rPr lang="en-US" altLang="ko-KR" dirty="0"/>
              <a:t>?</a:t>
            </a:r>
            <a:endParaRPr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FA9D8B-B02F-3D4A-9452-7044E414D134}"/>
              </a:ext>
            </a:extLst>
          </p:cNvPr>
          <p:cNvSpPr txBox="1"/>
          <p:nvPr/>
        </p:nvSpPr>
        <p:spPr>
          <a:xfrm>
            <a:off x="685799" y="1202638"/>
            <a:ext cx="10548588" cy="1077147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JavaScript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는 </a:t>
            </a: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C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에서 영향을 받은 </a:t>
            </a: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C-Family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언어로 기본적인 문법이 유사 중괄호로 구분하는 </a:t>
            </a:r>
            <a:r>
              <a:rPr kumimoji="1" lang="ko-KR" altLang="en-US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블럭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세미콜론으로 줄이 끝남을 알리는 것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변수 쓰는 법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연산자 사용법 등 기초적인 문법이 </a:t>
            </a:r>
            <a:endParaRPr kumimoji="1" lang="en-US" altLang="ko-KR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C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문법과 크게 다르지 않다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r>
              <a:rPr kumimoji="1" lang="ko-KR" altLang="en-US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호이스팅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 같은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것도 </a:t>
            </a: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C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언어의 잔재이다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55C32A-A804-1C4C-BB0B-1F29657969C4}"/>
              </a:ext>
            </a:extLst>
          </p:cNvPr>
          <p:cNvSpPr txBox="1"/>
          <p:nvPr/>
        </p:nvSpPr>
        <p:spPr>
          <a:xfrm>
            <a:off x="685799" y="2762445"/>
            <a:ext cx="10462987" cy="1574201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HTML5, </a:t>
            </a:r>
            <a:r>
              <a:rPr kumimoji="1" lang="ko-KR" altLang="en-US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반응형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 웹 등 다양한 웹 기술의 발달로 인해 사실상 </a:t>
            </a:r>
            <a:r>
              <a:rPr kumimoji="1" lang="ko-KR" altLang="en-US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데스크탑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 어플리케이션이 쇠퇴하고 </a:t>
            </a:r>
            <a:endParaRPr kumimoji="1" lang="en-US" altLang="ko-KR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웹이 모던 어플리케이션의 표준이 되면서 중요성이 더욱 두드러지는 언어가 되었다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실제로 많은 소프트웨어 회사들이 기존 </a:t>
            </a: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C++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나 </a:t>
            </a: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Java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등으로 쓰여진 </a:t>
            </a: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PC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용 어플리케이션을 </a:t>
            </a:r>
            <a:endParaRPr kumimoji="1" lang="en-US" altLang="ko-KR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웹 앱으로 전환하고 있어 수요도 많고 전망 또한 밝은 언어라 할 수 있다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1715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자바스크립트란</a:t>
            </a:r>
            <a:r>
              <a:rPr lang="en-US" altLang="ko-KR" dirty="0"/>
              <a:t>?</a:t>
            </a:r>
            <a:endParaRPr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DE0A66-5C18-CF4F-A16A-A988D91D9D20}"/>
              </a:ext>
            </a:extLst>
          </p:cNvPr>
          <p:cNvSpPr txBox="1"/>
          <p:nvPr/>
        </p:nvSpPr>
        <p:spPr>
          <a:xfrm>
            <a:off x="685798" y="1200848"/>
            <a:ext cx="11251152" cy="249291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JavaScript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는 확장성이 매우 높은 언어이다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.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marL="285750" indent="-285750" defTabSz="912813" fontAlgn="base">
              <a:spcBef>
                <a:spcPts val="600"/>
              </a:spcBef>
              <a:spcAft>
                <a:spcPct val="0"/>
              </a:spcAft>
              <a:buFontTx/>
              <a:buChar char="-"/>
            </a:pPr>
            <a:r>
              <a:rPr kumimoji="1" lang="en" altLang="ko-KR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React.js</a:t>
            </a: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또는 </a:t>
            </a:r>
            <a:r>
              <a:rPr kumimoji="1" lang="en" altLang="ko-KR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Vue.js</a:t>
            </a:r>
            <a:r>
              <a:rPr kumimoji="1" lang="ko-KR" altLang="en-US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를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 사용해 </a:t>
            </a: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SPA (Single Page Application)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+mj-ea"/>
                <a:ea typeface="+mj-ea"/>
                <a:cs typeface="Arial" panose="020B0604020202020204" pitchFamily="34" charset="0"/>
              </a:rPr>
              <a:t>웹 사이트 개발</a:t>
            </a:r>
            <a:endParaRPr kumimoji="1" lang="en-US" altLang="ko-KR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marL="285750" indent="-285750" defTabSz="912813" fontAlgn="base">
              <a:spcBef>
                <a:spcPts val="600"/>
              </a:spcBef>
              <a:spcAft>
                <a:spcPct val="0"/>
              </a:spcAft>
              <a:buFontTx/>
              <a:buChar char="-"/>
            </a:pP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React Native</a:t>
            </a:r>
            <a:r>
              <a:rPr kumimoji="1" lang="ko-KR" altLang="en-US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를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 사용한 </a:t>
            </a: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+mj-ea"/>
                <a:cs typeface="Arial" panose="020B0604020202020204" pitchFamily="34" charset="0"/>
              </a:rPr>
              <a:t>iOS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+mj-ea"/>
                <a:cs typeface="Arial" panose="020B0604020202020204" pitchFamily="34" charset="0"/>
              </a:rPr>
              <a:t>와 안드로이드 앱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cs typeface="Arial" panose="020B0604020202020204" pitchFamily="34" charset="0"/>
              </a:rPr>
              <a:t> 개발</a:t>
            </a: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</a:p>
          <a:p>
            <a:pPr marL="285750" indent="-285750" defTabSz="912813" fontAlgn="base">
              <a:spcBef>
                <a:spcPts val="600"/>
              </a:spcBef>
              <a:spcAft>
                <a:spcPct val="0"/>
              </a:spcAft>
              <a:buFontTx/>
              <a:buChar char="-"/>
            </a:pP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cs typeface="Arial" panose="020B0604020202020204" pitchFamily="34" charset="0"/>
              </a:rPr>
              <a:t>Node.js</a:t>
            </a:r>
            <a:r>
              <a:rPr kumimoji="1" lang="ko-KR" altLang="en-US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cs typeface="Arial" panose="020B0604020202020204" pitchFamily="34" charset="0"/>
              </a:rPr>
              <a:t>를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cs typeface="Arial" panose="020B0604020202020204" pitchFamily="34" charset="0"/>
              </a:rPr>
              <a:t> 사용하여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+mj-ea"/>
                <a:ea typeface="+mj-ea"/>
                <a:cs typeface="Arial" panose="020B0604020202020204" pitchFamily="34" charset="0"/>
              </a:rPr>
              <a:t>웹 서버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 사이드 개발</a:t>
            </a:r>
            <a:endParaRPr kumimoji="1" lang="en" altLang="ko-KR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marL="285750" indent="-285750" defTabSz="912813" fontAlgn="base">
              <a:spcBef>
                <a:spcPts val="600"/>
              </a:spcBef>
              <a:spcAft>
                <a:spcPct val="0"/>
              </a:spcAft>
              <a:buFontTx/>
              <a:buChar char="-"/>
            </a:pP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cs typeface="Arial" panose="020B0604020202020204" pitchFamily="34" charset="0"/>
              </a:rPr>
              <a:t>Electron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cs typeface="Arial" panose="020B0604020202020204" pitchFamily="34" charset="0"/>
              </a:rPr>
              <a:t> 및 </a:t>
            </a: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cs typeface="Arial" panose="020B0604020202020204" pitchFamily="34" charset="0"/>
              </a:rPr>
              <a:t>React Native for Windows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cs typeface="Arial" panose="020B0604020202020204" pitchFamily="34" charset="0"/>
              </a:rPr>
              <a:t> </a:t>
            </a:r>
            <a:r>
              <a:rPr kumimoji="1" lang="ko-KR" altLang="en-US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cs typeface="Arial" panose="020B0604020202020204" pitchFamily="34" charset="0"/>
              </a:rPr>
              <a:t>를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cs typeface="Arial" panose="020B0604020202020204" pitchFamily="34" charset="0"/>
              </a:rPr>
              <a:t> 사용하면 리눅스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cs typeface="Arial" panose="020B0604020202020204" pitchFamily="34" charset="0"/>
              </a:rPr>
              <a:t>, </a:t>
            </a: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cs typeface="Arial" panose="020B0604020202020204" pitchFamily="34" charset="0"/>
              </a:rPr>
              <a:t>macOS,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cs typeface="Arial" panose="020B0604020202020204" pitchFamily="34" charset="0"/>
              </a:rPr>
              <a:t>윈도우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cs typeface="Arial" panose="020B0604020202020204" pitchFamily="34" charset="0"/>
              </a:rPr>
              <a:t>, </a:t>
            </a:r>
            <a:r>
              <a:rPr kumimoji="1" lang="en" altLang="ko-KR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cs typeface="Arial" panose="020B0604020202020204" pitchFamily="34" charset="0"/>
              </a:rPr>
              <a:t>tvOS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cs typeface="Arial" panose="020B0604020202020204" pitchFamily="34" charset="0"/>
              </a:rPr>
              <a:t> </a:t>
            </a:r>
            <a:r>
              <a:rPr kumimoji="1" lang="ko-KR" altLang="en-US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+mj-ea"/>
                <a:cs typeface="Arial" panose="020B0604020202020204" pitchFamily="34" charset="0"/>
              </a:rPr>
              <a:t>데스크탑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+mj-ea"/>
                <a:cs typeface="Arial" panose="020B0604020202020204" pitchFamily="34" charset="0"/>
              </a:rPr>
              <a:t> 앱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cs typeface="Arial" panose="020B0604020202020204" pitchFamily="34" charset="0"/>
              </a:rPr>
              <a:t> 개발 가능</a:t>
            </a:r>
            <a:endParaRPr kumimoji="1" lang="en-US" altLang="ko-KR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cs typeface="Arial" panose="020B0604020202020204" pitchFamily="34" charset="0"/>
            </a:endParaRPr>
          </a:p>
          <a:p>
            <a:pPr marL="285750" indent="-285750" defTabSz="912813" fontAlgn="base">
              <a:spcBef>
                <a:spcPts val="600"/>
              </a:spcBef>
              <a:spcAft>
                <a:spcPct val="0"/>
              </a:spcAft>
              <a:buFontTx/>
              <a:buChar char="-"/>
            </a:pPr>
            <a:endParaRPr kumimoji="1" lang="en" altLang="ko-KR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3074" name="Picture 2" descr="크롬 무료 아이콘 의 Android Lollipop Icons">
            <a:extLst>
              <a:ext uri="{FF2B5EF4-FFF2-40B4-BE49-F238E27FC236}">
                <a16:creationId xmlns:a16="http://schemas.microsoft.com/office/drawing/2014/main" id="{284EECF3-DC08-EA4F-995A-FE768A0C4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865" y="3999387"/>
            <a:ext cx="1909969" cy="190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안드로이드 무료 아이콘 의 Most Usable Logos Icons">
            <a:extLst>
              <a:ext uri="{FF2B5EF4-FFF2-40B4-BE49-F238E27FC236}">
                <a16:creationId xmlns:a16="http://schemas.microsoft.com/office/drawing/2014/main" id="{D706871D-2988-3049-9DA7-0E2EE2DD0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7058" y="4038031"/>
            <a:ext cx="1766421" cy="176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애플 무료 아이콘 의 Famous Brands">
            <a:extLst>
              <a:ext uri="{FF2B5EF4-FFF2-40B4-BE49-F238E27FC236}">
                <a16:creationId xmlns:a16="http://schemas.microsoft.com/office/drawing/2014/main" id="{9C59DC80-C67A-104A-B84A-67B4F4CB6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6314" y="3999387"/>
            <a:ext cx="1766421" cy="176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Windows 무료 아이콘 의 Most Usable Logos Icons">
            <a:extLst>
              <a:ext uri="{FF2B5EF4-FFF2-40B4-BE49-F238E27FC236}">
                <a16:creationId xmlns:a16="http://schemas.microsoft.com/office/drawing/2014/main" id="{22BD7810-6EF0-DB48-B84F-2DFBBD14D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3999386"/>
            <a:ext cx="1766421" cy="176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3493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자바스크립트란</a:t>
            </a:r>
            <a:r>
              <a:rPr lang="en-US" altLang="ko-KR" dirty="0"/>
              <a:t>?</a:t>
            </a:r>
            <a:endParaRPr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DB081-3EDD-B447-A09C-3E590BCA4EA9}"/>
              </a:ext>
            </a:extLst>
          </p:cNvPr>
          <p:cNvSpPr txBox="1"/>
          <p:nvPr/>
        </p:nvSpPr>
        <p:spPr>
          <a:xfrm>
            <a:off x="685799" y="1162880"/>
            <a:ext cx="9243103" cy="1815811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algn="l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자바스크립트 엔진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자바스크립트 엔진은 소스코드를 가져와서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문자열 단위로 분해하고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어휘 단위로 정리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), 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이들 문자열을 컴파일러가 이해할 수 있도록 바이트 코드로 변환한 후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이를 실 행하며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메모리를 할당하고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kumimoji="1" lang="ko-KR" altLang="en-US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가비지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kumimoji="1" lang="ko-KR" altLang="en-US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컬렉팅을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 한다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</a:p>
        </p:txBody>
      </p:sp>
      <p:pic>
        <p:nvPicPr>
          <p:cNvPr id="1026" name="Picture 2" descr="Javascript engine">
            <a:extLst>
              <a:ext uri="{FF2B5EF4-FFF2-40B4-BE49-F238E27FC236}">
                <a16:creationId xmlns:a16="http://schemas.microsoft.com/office/drawing/2014/main" id="{7CFBD942-ABAF-A64C-81AC-CBB305B78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835" y="3185737"/>
            <a:ext cx="9833865" cy="2669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2781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자바스크립트란</a:t>
            </a:r>
            <a:r>
              <a:rPr lang="en-US" altLang="ko-KR" dirty="0"/>
              <a:t>?</a:t>
            </a:r>
            <a:endParaRPr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DB081-3EDD-B447-A09C-3E590BCA4EA9}"/>
              </a:ext>
            </a:extLst>
          </p:cNvPr>
          <p:cNvSpPr txBox="1"/>
          <p:nvPr/>
        </p:nvSpPr>
        <p:spPr>
          <a:xfrm>
            <a:off x="685799" y="1162878"/>
            <a:ext cx="9504392" cy="184658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algn="l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프로토타입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 기반 언어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algn="l"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프로토타입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 기반 프로그래밍은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+mj-ea"/>
                <a:ea typeface="+mj-ea"/>
                <a:cs typeface="Arial" panose="020B0604020202020204" pitchFamily="34" charset="0"/>
              </a:rPr>
              <a:t>객체지향 프로그래밍의 한 형태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의 갈래로 클래스가 없고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클래스 기반 언어에서 상속을 사용하는 것과는 다르게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객체를 원형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kumimoji="1" lang="ko-KR" altLang="en-US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프로토타입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)</a:t>
            </a:r>
            <a:r>
              <a:rPr kumimoji="1" lang="ko-KR" altLang="en-US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으로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 하여 </a:t>
            </a:r>
            <a:endParaRPr kumimoji="1" lang="en-US" altLang="ko-KR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+mj-ea"/>
                <a:ea typeface="+mj-ea"/>
                <a:cs typeface="Arial" panose="020B0604020202020204" pitchFamily="34" charset="0"/>
              </a:rPr>
              <a:t>복제의 과정을 통하여 객체의 동작 방식을 다시 사용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할 수 있다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8FEA075-0F7C-DE4C-BA3F-8D11E3495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974" y="3323450"/>
            <a:ext cx="3538609" cy="30416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C6A9B87-AB97-5441-9438-DA2A00139D90}"/>
              </a:ext>
            </a:extLst>
          </p:cNvPr>
          <p:cNvSpPr txBox="1"/>
          <p:nvPr/>
        </p:nvSpPr>
        <p:spPr>
          <a:xfrm>
            <a:off x="5437995" y="3928046"/>
            <a:ext cx="5782219" cy="1554201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클래스 기반 언어에서는 상속을 사용하지만 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프로토타입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 기반 언어에서는 어떤 객체를 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원형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프로토타입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)</a:t>
            </a:r>
            <a:r>
              <a:rPr kumimoji="1" lang="ko-KR" altLang="en-US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으로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 삼고 이를 복제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참조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)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하여 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상속과 비슷한 효과를 얻는다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.</a:t>
            </a:r>
            <a:endParaRPr kumimoji="1" lang="ko-KR" altLang="en-US" sz="20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732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자바스크립트란</a:t>
            </a:r>
            <a:r>
              <a:rPr lang="en-US" altLang="ko-KR" dirty="0"/>
              <a:t>?</a:t>
            </a:r>
            <a:endParaRPr lang="ko-Kore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AC8614-998D-B841-9841-AAB157D8DFC1}"/>
              </a:ext>
            </a:extLst>
          </p:cNvPr>
          <p:cNvSpPr txBox="1"/>
          <p:nvPr/>
        </p:nvSpPr>
        <p:spPr>
          <a:xfrm>
            <a:off x="685799" y="1170430"/>
            <a:ext cx="11227620" cy="2908418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algn="l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스크립트 언어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algn="l"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프로그래밍 언어의 한 종류로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기존에 이미 존재하는 소프트웨어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애플리케이션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)</a:t>
            </a:r>
            <a:r>
              <a:rPr kumimoji="1" lang="ko-KR" altLang="en-US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를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 제어하기 위한 용도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.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일반적인 응용 소프트웨어는 컴파일러를 사용하는 언어에 의해 기계어로 번역된 채로 실행되기 때문에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수정이 빈번하게 발생하면 수정 후 일일이 컴파일을 다시 해야 한다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.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이 때문에 수정이 빈번하게 발생하는 부분은 소스코드를 </a:t>
            </a:r>
            <a:r>
              <a:rPr kumimoji="1" lang="ko-KR" altLang="en-US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한줄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kumimoji="1" lang="ko-KR" altLang="en-US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한줄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 읽어 기계어로 번역 후 바로 실행하는 </a:t>
            </a:r>
            <a:endParaRPr kumimoji="1" lang="en-US" altLang="ko-KR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+mj-ea"/>
                <a:ea typeface="+mj-ea"/>
                <a:cs typeface="Arial" panose="020B0604020202020204" pitchFamily="34" charset="0"/>
              </a:rPr>
              <a:t>인터프리터 방식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이 상당히 유리하다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스크립트 언어는 이런 부분에 사용하기 위해 나온 것으로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응용 소프트웨어에서 스크립트 언어에 맞는 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API</a:t>
            </a:r>
            <a:r>
              <a:rPr kumimoji="1" lang="ko-KR" altLang="en-US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를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 제공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응용 소프트웨어와 상호작용하면서 돌아가게 된다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640EA6-2BD8-944F-9476-6E1AA1DE4116}"/>
              </a:ext>
            </a:extLst>
          </p:cNvPr>
          <p:cNvSpPr txBox="1"/>
          <p:nvPr/>
        </p:nvSpPr>
        <p:spPr>
          <a:xfrm>
            <a:off x="685799" y="4548867"/>
            <a:ext cx="9557291" cy="1138703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컴파일 언어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kumimoji="1" lang="en-US" altLang="ko-KR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cs typeface="Arial" panose="020B0604020202020204" pitchFamily="34" charset="0"/>
              </a:rPr>
              <a:t>(C++, JAVA)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소스코드 전체를 한 번 훑고 컴퓨터 프로세서가 실행 할 수 있도록 바로 기계어로 변환한다</a:t>
            </a:r>
            <a:endParaRPr kumimoji="1" lang="en-US" altLang="ko-KR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643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자바스크립트란</a:t>
            </a:r>
            <a:r>
              <a:rPr lang="en-US" altLang="ko-KR" dirty="0"/>
              <a:t>?</a:t>
            </a:r>
            <a:endParaRPr lang="ko-Kore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AC8614-998D-B841-9841-AAB157D8DFC1}"/>
              </a:ext>
            </a:extLst>
          </p:cNvPr>
          <p:cNvSpPr txBox="1"/>
          <p:nvPr/>
        </p:nvSpPr>
        <p:spPr>
          <a:xfrm>
            <a:off x="685799" y="1170430"/>
            <a:ext cx="3655098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HTML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에서 </a:t>
            </a:r>
            <a:r>
              <a:rPr kumimoji="1" lang="en" altLang="ko-KR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Javascript</a:t>
            </a:r>
            <a:r>
              <a:rPr kumimoji="1" lang="en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로드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4F3C6696-884B-5243-8150-2BB1E723D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39" y="1644487"/>
            <a:ext cx="9182100" cy="39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860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자바스크립트란</a:t>
            </a:r>
            <a:r>
              <a:rPr lang="en-US" altLang="ko-KR" dirty="0"/>
              <a:t>?</a:t>
            </a:r>
            <a:endParaRPr lang="ko-Kore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AC8614-998D-B841-9841-AAB157D8DFC1}"/>
              </a:ext>
            </a:extLst>
          </p:cNvPr>
          <p:cNvSpPr txBox="1"/>
          <p:nvPr/>
        </p:nvSpPr>
        <p:spPr>
          <a:xfrm>
            <a:off x="685799" y="1170430"/>
            <a:ext cx="3655098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HTML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에서 </a:t>
            </a:r>
            <a:r>
              <a:rPr kumimoji="1" lang="en" altLang="ko-KR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Javascript</a:t>
            </a:r>
            <a:r>
              <a:rPr kumimoji="1" lang="en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로드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1FE855D1-3DC0-DF41-A1C2-5A85EEE2E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420" y="1632113"/>
            <a:ext cx="91821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439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자바스크립트란</a:t>
            </a:r>
            <a:r>
              <a:rPr lang="en-US" altLang="ko-KR" dirty="0"/>
              <a:t>?</a:t>
            </a:r>
            <a:endParaRPr lang="ko-Kore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AC8614-998D-B841-9841-AAB157D8DFC1}"/>
              </a:ext>
            </a:extLst>
          </p:cNvPr>
          <p:cNvSpPr txBox="1"/>
          <p:nvPr/>
        </p:nvSpPr>
        <p:spPr>
          <a:xfrm>
            <a:off x="685799" y="1170430"/>
            <a:ext cx="3655098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HTML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에서 </a:t>
            </a:r>
            <a:r>
              <a:rPr kumimoji="1" lang="en" altLang="ko-KR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Javascript</a:t>
            </a:r>
            <a:r>
              <a:rPr kumimoji="1" lang="en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로드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A5540825-BA55-4A44-A0E7-584DA9149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886" y="1580698"/>
            <a:ext cx="9182100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46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자바스크립트란</a:t>
            </a:r>
            <a:r>
              <a:rPr lang="en-US" altLang="ko-KR" dirty="0"/>
              <a:t>?</a:t>
            </a:r>
            <a:endParaRPr lang="ko-Kore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AC8614-998D-B841-9841-AAB157D8DFC1}"/>
              </a:ext>
            </a:extLst>
          </p:cNvPr>
          <p:cNvSpPr txBox="1"/>
          <p:nvPr/>
        </p:nvSpPr>
        <p:spPr>
          <a:xfrm>
            <a:off x="685799" y="1170430"/>
            <a:ext cx="3655098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HTML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에서 </a:t>
            </a:r>
            <a:r>
              <a:rPr kumimoji="1" lang="en" altLang="ko-KR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Javascript</a:t>
            </a:r>
            <a:r>
              <a:rPr kumimoji="1" lang="en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로드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5CDB6B69-0A42-5C46-84B0-CB96A2CC9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613" y="1660368"/>
            <a:ext cx="9182100" cy="435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09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자바스크립트란</a:t>
            </a:r>
            <a:r>
              <a:rPr lang="en-US" altLang="ko-KR" dirty="0"/>
              <a:t>?</a:t>
            </a:r>
            <a:endParaRPr lang="ko-Kore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AC8614-998D-B841-9841-AAB157D8DFC1}"/>
              </a:ext>
            </a:extLst>
          </p:cNvPr>
          <p:cNvSpPr txBox="1"/>
          <p:nvPr/>
        </p:nvSpPr>
        <p:spPr>
          <a:xfrm>
            <a:off x="685799" y="1170430"/>
            <a:ext cx="1646471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엄격 모드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C5F450-1585-F24C-B4B3-5C112BDFD793}"/>
              </a:ext>
            </a:extLst>
          </p:cNvPr>
          <p:cNvSpPr txBox="1"/>
          <p:nvPr/>
        </p:nvSpPr>
        <p:spPr>
          <a:xfrm>
            <a:off x="685799" y="1830433"/>
            <a:ext cx="11080144" cy="1879418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1.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 기존에는 조용히 무시 되던 에러들을 </a:t>
            </a:r>
            <a:r>
              <a:rPr lang="en" altLang="ko-KR" sz="2000" dirty="0">
                <a:solidFill>
                  <a:schemeClr val="bg1"/>
                </a:solidFill>
                <a:latin typeface="+mn-ea"/>
              </a:rPr>
              <a:t>throwing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합니다</a:t>
            </a: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" altLang="ko-KR" sz="2000" dirty="0">
                <a:solidFill>
                  <a:schemeClr val="bg1"/>
                </a:solidFill>
                <a:latin typeface="+mn-ea"/>
              </a:rPr>
              <a:t>JavaScript 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엔진의 최적화 작업을 어렵게 만드는 실수들을 바로잡습니다</a:t>
            </a: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가끔씩 엄격 모드의 코드는 비</a:t>
            </a: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-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엄격 모드의 동일한 코드보다 더 빨리 작동하도록 만들어집니다</a:t>
            </a: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3.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 엄격 모드는 </a:t>
            </a:r>
            <a:r>
              <a:rPr lang="en" altLang="ko-KR" sz="2000" dirty="0">
                <a:solidFill>
                  <a:schemeClr val="bg1"/>
                </a:solidFill>
                <a:latin typeface="+mn-ea"/>
              </a:rPr>
              <a:t>ECMAScript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의 차기 </a:t>
            </a:r>
            <a:r>
              <a:rPr lang="ko-KR" altLang="en-US" sz="2000" dirty="0" err="1">
                <a:solidFill>
                  <a:schemeClr val="bg1"/>
                </a:solidFill>
                <a:latin typeface="+mn-ea"/>
              </a:rPr>
              <a:t>버전들에서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 정의 될 문법을 금지합니다</a:t>
            </a: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F3EF003-E8BB-4642-9075-5A6039352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3963531"/>
            <a:ext cx="9182100" cy="204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406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91374" tIns="45685" rIns="91374" bIns="45685">
        <a:spAutoFit/>
      </a:bodyPr>
      <a:lstStyle>
        <a:defPPr algn="l" defTabSz="912813" fontAlgn="base">
          <a:spcBef>
            <a:spcPts val="600"/>
          </a:spcBef>
          <a:spcAft>
            <a:spcPct val="0"/>
          </a:spcAft>
          <a:defRPr kumimoji="1" sz="2000" b="1" dirty="0" err="1">
            <a:ln>
              <a:solidFill>
                <a:schemeClr val="bg1">
                  <a:lumMod val="85000"/>
                  <a:alpha val="0"/>
                </a:schemeClr>
              </a:solidFill>
            </a:ln>
            <a:solidFill>
              <a:srgbClr val="4B465E"/>
            </a:solidFill>
            <a:latin typeface="맑은 고딕" pitchFamily="50" charset="-127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578</Words>
  <Application>Microsoft Macintosh PowerPoint</Application>
  <PresentationFormat>와이드스크린</PresentationFormat>
  <Paragraphs>95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批量名称</dc:creator>
  <cp:lastModifiedBy>批量名称</cp:lastModifiedBy>
  <cp:revision>134</cp:revision>
  <dcterms:created xsi:type="dcterms:W3CDTF">2020-12-17T04:08:04Z</dcterms:created>
  <dcterms:modified xsi:type="dcterms:W3CDTF">2021-04-12T07:40:35Z</dcterms:modified>
</cp:coreProperties>
</file>