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59" r:id="rId1"/>
  </p:sldMasterIdLst>
  <p:notesMasterIdLst>
    <p:notesMasterId r:id="rId28"/>
  </p:notesMasterIdLst>
  <p:sldIdLst>
    <p:sldId id="266" r:id="rId2"/>
    <p:sldId id="261" r:id="rId3"/>
    <p:sldId id="270" r:id="rId4"/>
    <p:sldId id="268" r:id="rId5"/>
    <p:sldId id="271" r:id="rId6"/>
    <p:sldId id="273" r:id="rId7"/>
    <p:sldId id="272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69" r:id="rId16"/>
    <p:sldId id="282" r:id="rId17"/>
    <p:sldId id="284" r:id="rId18"/>
    <p:sldId id="283" r:id="rId19"/>
    <p:sldId id="285" r:id="rId20"/>
    <p:sldId id="281" r:id="rId21"/>
    <p:sldId id="286" r:id="rId22"/>
    <p:sldId id="288" r:id="rId23"/>
    <p:sldId id="287" r:id="rId24"/>
    <p:sldId id="289" r:id="rId25"/>
    <p:sldId id="290" r:id="rId26"/>
    <p:sldId id="291" r:id="rId27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54C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35"/>
    <p:restoredTop sz="76127"/>
  </p:normalViewPr>
  <p:slideViewPr>
    <p:cSldViewPr snapToGrid="0" snapToObjects="1">
      <p:cViewPr varScale="1">
        <p:scale>
          <a:sx n="92" d="100"/>
          <a:sy n="92" d="100"/>
        </p:scale>
        <p:origin x="17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9" d="100"/>
          <a:sy n="119" d="100"/>
        </p:scale>
        <p:origin x="392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07:24:11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0 421 24575,'20'5'0,"3"6"0,40 32 0,-12 8 0,9 14 0,-5-5 0,2-6 0,-1 0 0,-1 8 0,3 5 0,-11-15 0,-8-16 0,-26-24 0,-9-17 0,0-4 0,-3 0 0,12-11 0,-6 9 0,25-32 0,-18 28 0,26-29 0,5-2 0,-18 22 0,25-21 0,8-8 0,-10 6 0,0 1 0,5 2 0,2-2 0,11-16 0,0-1 0,-11 11 0,-5 6 0,10-7 0,0-6 0,-52 51 0,2 3 0,-3-3 0,0 3 0,-1-4 0,-3 0 0,7-8 0,-2 3 0,-1-4 0,7 1 0,-6 7 0,3-3 0,0 9 0,-8-4 0,-1 7 0,-4-3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10T07:24:12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1766 24575,'9'0'0,"0"0"0,3 0 0,-2 0 0,40 17 0,-16 7 0,16 2 0,2 12 0,-36-26 0,27 13 0,-28-11 0,29 13 0,-25-10 0,16 1 0,-26-14 0,11 8 0,-8-9 0,12 12 0,-14-6 0,10 5 0,-9-5 0,2-5 0,-10-9 0,5-8 0,-2 4 0,8-15 0,-5 8 0,7-16 0,21-14 0,16-13 0,-2 1 0,4-8 0,8-6-649,-10 17 1,10-10 0,8-5 0,1-1 0,-4 4-1,-7 8 649,8-7 0,-7 7 0,9-4 0,-10 11 0,7-5 0,5-3 0,0 1 0,-4 5 0,-10 8-268,4 0 0,-9 9 0,7-5 268,14-11 0,10-6 0,-2 0 0,-10 7 0,4-5 0,-3 1-1743,3-4 0,4-5 0,-15 12 1743,-1 2 0,3-9 0,-65 60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B2E54-8ADE-1C42-B7E1-8C04B8CD0931}" type="datetimeFigureOut">
              <a:rPr kumimoji="1" lang="ko-Kore-KR" altLang="en-US" smtClean="0"/>
              <a:t>5/26/21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A6CA5-1AB8-7840-86E1-8A38211DD31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7166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35356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name="viewport" content="width=device-width, initial-scale=1.0"&gt;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&lt;title&gt;Browser&lt;/title&gt;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.box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display: inline-block;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 bisque;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padding: 15px;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font-size: xx-large;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height: 3000px;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class="box"&gt;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&lt;/div&gt;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type="text/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boxTag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('.box');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sizeUpdate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boxTag.innerHTML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`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window.screen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window.screen.width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}, ${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window.screen.height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&lt;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/&gt;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window.outer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window.outerWidth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}, ${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window.outerHeight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&lt;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/&gt;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windwo.inner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window.innerWidth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}, ${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window.innerHeight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&lt;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/&gt;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document.documentElement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document.documentElement.clientWidth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, ${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document.documentElement.clientHeight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('resize', () =&gt; {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sizeUpdate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})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sizeUpdate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21175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96409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28178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name="viewport" content="width=device-width, initial-scale=1.0"&gt;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&lt;title&gt;Browser&lt;/title&gt;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width: 300px;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height: 300px;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margin: 1px;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cadetblue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.target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 crimson;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aside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position: fixed;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top: 20px;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right: 20px;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class="target"&gt;&lt;/div&gt;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&lt;div&gt;&lt;/div&gt;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&lt;aside&gt;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&lt;button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scrollBy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"&gt;by 100px&lt;/button&gt;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&lt;button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scrollTo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"&gt;to 100px&lt;/button&gt;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&lt;button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scrollInto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"&gt;into target&lt;/button&gt;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&lt;/aside&gt;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type="text/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targetTag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('.target');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targetTag.addEventListener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function 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evnet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targetTag.getBoundingClientRect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(`client: ${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event.clientX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}, ${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event.clientY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}`);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(`page: ${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event.pageX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}, ${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event.pageY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}`);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scrollByTag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scrollBy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scrollToTag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scrollTo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scrollIntoTag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scrollInto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scrollByTag.addEventListener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function ()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window.scrollBy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({ top: 100, left: 0, behavior: 'smooth' })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scrollToTag.addEventListener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function ()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window.scrollTo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(0, 100);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scrollIntoTag.addEventListener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function ()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targetTag.scrollIntoView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52758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name="viewport" content="width=device-width, initial-scale=1.0"&gt;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&lt;title&gt;Browser&lt;/title&gt;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width: 300px;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height: 300px;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margin: 1px;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cadetblue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.target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 crimson;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aside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position: fixed;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top: 20px;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right: 20px;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class="target"&gt;&lt;/div&gt;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&lt;div&gt;&lt;/div&gt;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&lt;aside&gt;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&lt;button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scrollBy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"&gt;by 100px&lt;/button&gt;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&lt;button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scrollTo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"&gt;to 100px&lt;/button&gt;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&lt;button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scrollInto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"&gt;into target&lt;/button&gt;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&lt;/aside&gt;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type="text/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targetTag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('.target');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targetTag.addEventListener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function 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evnet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targetTag.getBoundingClientRect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(`client: ${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event.clientX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}, ${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event.clientY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}`);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(`page: ${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event.pageX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}, ${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event.pageY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}`);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scrollByTag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scrollBy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scrollToTag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scrollTo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scrollIntoTag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document.querySelector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scrollInto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scrollByTag.addEventListener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function ()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window.scrollBy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({ top: 100, left: 0, behavior: 'smooth' })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scrollToTag.addEventListener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function ()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window.scrollTo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(0, 100);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scrollIntoTag.addEventListener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function ()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targetTag.scrollIntoView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63067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21464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name="viewport" content="width=device-width, initial-scale=1.0"&gt;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&lt;title&gt;Browser&lt;/title&gt;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="js-01.js" defer&gt;&lt;/script&gt; 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type="text/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DOMContentLoaded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() =&gt;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DOMContentLoaded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('load', () =&gt;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("load");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beforeunload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() =&gt;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beforeunload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window.addEventListener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('unload', () =&gt;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("unload");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34673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487467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242245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614908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544723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672152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20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149206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21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731458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22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182242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23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660222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24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052478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25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110470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26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34692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목차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8" name="다이아몬드 7">
            <a:extLst>
              <a:ext uri="{FF2B5EF4-FFF2-40B4-BE49-F238E27FC236}">
                <a16:creationId xmlns:a16="http://schemas.microsoft.com/office/drawing/2014/main" id="{A11D6FC2-3699-114E-A2F5-2DF05DA32C3B}"/>
              </a:ext>
            </a:extLst>
          </p:cNvPr>
          <p:cNvSpPr/>
          <p:nvPr userDrawn="1"/>
        </p:nvSpPr>
        <p:spPr>
          <a:xfrm>
            <a:off x="445064" y="1507744"/>
            <a:ext cx="564022" cy="564022"/>
          </a:xfrm>
          <a:prstGeom prst="diamond">
            <a:avLst/>
          </a:prstGeom>
          <a:solidFill>
            <a:srgbClr val="55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3838A-BE2E-8E43-B618-8D65C885101B}"/>
              </a:ext>
            </a:extLst>
          </p:cNvPr>
          <p:cNvSpPr txBox="1"/>
          <p:nvPr userDrawn="1"/>
        </p:nvSpPr>
        <p:spPr>
          <a:xfrm>
            <a:off x="667133" y="1548617"/>
            <a:ext cx="1284642" cy="52314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INDEX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B78544-F529-9243-9639-1427C2074D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72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34C11287-0330-9147-8C4E-97969ED1571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9780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4DD148-E2F3-6F43-A830-B1DF9707D5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4567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A3EE9B3-6AC5-F94F-8261-F1619ABEB1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373347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8" name="내용 개체 틀 2">
            <a:extLst>
              <a:ext uri="{FF2B5EF4-FFF2-40B4-BE49-F238E27FC236}">
                <a16:creationId xmlns:a16="http://schemas.microsoft.com/office/drawing/2014/main" id="{479462A3-7C4E-9243-902A-129F0F8368E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33424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0" name="텍스트 개체 틀 4">
            <a:extLst>
              <a:ext uri="{FF2B5EF4-FFF2-40B4-BE49-F238E27FC236}">
                <a16:creationId xmlns:a16="http://schemas.microsoft.com/office/drawing/2014/main" id="{955026BC-E4E9-4E4C-A8FA-AA998F48E9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81303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37D67461-D793-1544-B693-992F84F737A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883465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5954E74E-5CB1-174E-8154-A3FD85F60F7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443542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F6C9143E-F40A-FD4B-9B91-87D3A44965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91421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112B5D26-A0CE-9341-8145-20A60E6965D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39358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6" name="내용 개체 틀 2">
            <a:extLst>
              <a:ext uri="{FF2B5EF4-FFF2-40B4-BE49-F238E27FC236}">
                <a16:creationId xmlns:a16="http://schemas.microsoft.com/office/drawing/2014/main" id="{94B07A4E-FE2B-E84D-AE7D-6887DCE53F9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95366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7" name="텍스트 개체 틀 4">
            <a:extLst>
              <a:ext uri="{FF2B5EF4-FFF2-40B4-BE49-F238E27FC236}">
                <a16:creationId xmlns:a16="http://schemas.microsoft.com/office/drawing/2014/main" id="{7F9D5FEC-DBD4-9B47-A8A2-76906CE8BB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0153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622927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제목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8" name="내용 개체 틀 17">
            <a:extLst>
              <a:ext uri="{FF2B5EF4-FFF2-40B4-BE49-F238E27FC236}">
                <a16:creationId xmlns:a16="http://schemas.microsoft.com/office/drawing/2014/main" id="{11EB12BD-423E-D942-AA60-48E193A3A9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26392" y="3460960"/>
            <a:ext cx="7042151" cy="535531"/>
          </a:xfrm>
        </p:spPr>
        <p:txBody>
          <a:bodyPr wrap="square" anchor="ctr" anchorCtr="0">
            <a:spAutoFit/>
          </a:bodyPr>
          <a:lstStyle>
            <a:lvl1pPr>
              <a:buNone/>
              <a:defRPr sz="3200" b="1"/>
            </a:lvl1pPr>
          </a:lstStyle>
          <a:p>
            <a:pPr lvl="0"/>
            <a:r>
              <a:rPr kumimoji="1" lang="ko-KR" altLang="en-US" dirty="0"/>
              <a:t>마스터 텍스트</a:t>
            </a:r>
            <a:endParaRPr kumimoji="1" lang="ko-Kore-KR" altLang="en-US" dirty="0"/>
          </a:p>
        </p:txBody>
      </p:sp>
      <p:sp>
        <p:nvSpPr>
          <p:cNvPr id="24" name="내용 개체 틀 23">
            <a:extLst>
              <a:ext uri="{FF2B5EF4-FFF2-40B4-BE49-F238E27FC236}">
                <a16:creationId xmlns:a16="http://schemas.microsoft.com/office/drawing/2014/main" id="{F23B5EBD-C357-6E46-AC78-8CC3CDDA81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135357" y="4052353"/>
            <a:ext cx="7042151" cy="286232"/>
          </a:xfrm>
        </p:spPr>
        <p:txBody>
          <a:bodyPr anchor="ctr" anchorCtr="0">
            <a:spAutoFit/>
          </a:bodyPr>
          <a:lstStyle>
            <a:lvl1pPr>
              <a:buNone/>
              <a:defRPr sz="1400"/>
            </a:lvl1pPr>
          </a:lstStyle>
          <a:p>
            <a:pPr lvl="0"/>
            <a:r>
              <a:rPr kumimoji="1" lang="ko-KR" altLang="en-US" dirty="0"/>
              <a:t>서브 타이틀이 들어가는 자리</a:t>
            </a:r>
            <a:endParaRPr kumimoji="1" lang="ko-Kore-KR" altLang="en-US" dirty="0"/>
          </a:p>
        </p:txBody>
      </p:sp>
      <p:sp>
        <p:nvSpPr>
          <p:cNvPr id="28" name="내용 개체 틀 27">
            <a:extLst>
              <a:ext uri="{FF2B5EF4-FFF2-40B4-BE49-F238E27FC236}">
                <a16:creationId xmlns:a16="http://schemas.microsoft.com/office/drawing/2014/main" id="{E0BAA295-AF35-8640-9328-4A9C9801DDD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5839" y="2192410"/>
            <a:ext cx="1250576" cy="2723823"/>
          </a:xfrm>
        </p:spPr>
        <p:txBody>
          <a:bodyPr wrap="square" anchor="ctr" anchorCtr="0">
            <a:spAutoFit/>
          </a:bodyPr>
          <a:lstStyle>
            <a:lvl1pPr>
              <a:buNone/>
              <a:defRPr sz="19000" b="1">
                <a:solidFill>
                  <a:srgbClr val="54CFD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77039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본문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7" name="다이아몬드 6">
            <a:extLst>
              <a:ext uri="{FF2B5EF4-FFF2-40B4-BE49-F238E27FC236}">
                <a16:creationId xmlns:a16="http://schemas.microsoft.com/office/drawing/2014/main" id="{7C1A53BE-79A1-1443-B395-F66226A9E860}"/>
              </a:ext>
            </a:extLst>
          </p:cNvPr>
          <p:cNvSpPr/>
          <p:nvPr userDrawn="1"/>
        </p:nvSpPr>
        <p:spPr>
          <a:xfrm>
            <a:off x="521264" y="389103"/>
            <a:ext cx="564022" cy="564022"/>
          </a:xfrm>
          <a:prstGeom prst="diamond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n>
                <a:noFill/>
              </a:ln>
            </a:endParaRPr>
          </a:p>
        </p:txBody>
      </p:sp>
      <p:sp>
        <p:nvSpPr>
          <p:cNvPr id="21" name="내용 개체 틀 20">
            <a:extLst>
              <a:ext uri="{FF2B5EF4-FFF2-40B4-BE49-F238E27FC236}">
                <a16:creationId xmlns:a16="http://schemas.microsoft.com/office/drawing/2014/main" id="{5CF5FC27-752C-4740-B570-7C440F0BF4F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3783" y="451302"/>
            <a:ext cx="564021" cy="424732"/>
          </a:xfrm>
        </p:spPr>
        <p:txBody>
          <a:bodyPr wrap="square" anchor="ctr" anchorCtr="0">
            <a:spAutoFit/>
          </a:bodyPr>
          <a:lstStyle>
            <a:lvl1pPr>
              <a:buNone/>
              <a:defRPr sz="2400"/>
            </a:lvl1pPr>
          </a:lstStyle>
          <a:p>
            <a:pPr lvl="0"/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3" name="내용 개체 틀 22">
            <a:extLst>
              <a:ext uri="{FF2B5EF4-FFF2-40B4-BE49-F238E27FC236}">
                <a16:creationId xmlns:a16="http://schemas.microsoft.com/office/drawing/2014/main" id="{9CBA9637-4268-E34F-A033-852CEB4858C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70323" y="492852"/>
            <a:ext cx="7507512" cy="341632"/>
          </a:xfrm>
        </p:spPr>
        <p:txBody>
          <a:bodyPr wrap="square" anchor="ctr" anchorCtr="0">
            <a:spAutoFit/>
          </a:bodyPr>
          <a:lstStyle>
            <a:lvl1pPr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내용을</a:t>
            </a:r>
            <a:r>
              <a:rPr kumimoji="1" lang="ko-KR" altLang="en-US" dirty="0"/>
              <a:t> 입력해주세요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062323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빈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817A0-D2DA-6D49-A1AD-BB38A5F3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30354D-EFF4-C740-B05B-ABA164468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CAB323-1000-AE42-8899-8B66CED31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40F8D6-EDB5-6642-890A-B46EEAB9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7161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99B43E-A874-4A44-9D5F-415AF744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0DB9CB-970A-4D4C-A927-880A96612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E738FC-4C5D-4142-8C3F-84800D865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42D97F-9D10-D045-890B-2F59FC1AF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57B2E-769E-374D-B908-27DE43920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719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8" r:id="rId1"/>
    <p:sldLayoutId id="2147484260" r:id="rId2"/>
    <p:sldLayoutId id="2147484267" r:id="rId3"/>
    <p:sldLayoutId id="214748426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5" Type="http://schemas.openxmlformats.org/officeDocument/2006/relationships/image" Target="../media/image17.png"/><Relationship Id="rId4" Type="http://schemas.openxmlformats.org/officeDocument/2006/relationships/customXml" Target="../ink/ink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F9C26C8-649C-D542-BAA7-BFA1E0C99AFE}"/>
              </a:ext>
            </a:extLst>
          </p:cNvPr>
          <p:cNvSpPr/>
          <p:nvPr/>
        </p:nvSpPr>
        <p:spPr>
          <a:xfrm>
            <a:off x="0" y="5715000"/>
            <a:ext cx="12192000" cy="970534"/>
          </a:xfrm>
          <a:prstGeom prst="rect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E8520-2EC0-DB4D-910F-FBCAECEE6417}"/>
              </a:ext>
            </a:extLst>
          </p:cNvPr>
          <p:cNvSpPr txBox="1"/>
          <p:nvPr/>
        </p:nvSpPr>
        <p:spPr>
          <a:xfrm>
            <a:off x="7816906" y="5804308"/>
            <a:ext cx="3938960" cy="523149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WEB </a:t>
            </a:r>
            <a:r>
              <a:rPr kumimoji="1" lang="ko-KR" altLang="en-US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개발 기초 과정</a:t>
            </a:r>
            <a:endParaRPr kumimoji="1" lang="ko-Kore-KR" altLang="en-US" sz="28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AAB4F-A5D2-6149-8851-416CBF5FD9F3}"/>
              </a:ext>
            </a:extLst>
          </p:cNvPr>
          <p:cNvSpPr txBox="1"/>
          <p:nvPr/>
        </p:nvSpPr>
        <p:spPr>
          <a:xfrm>
            <a:off x="7532015" y="6240726"/>
            <a:ext cx="4199575" cy="338484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16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HTML  /  CSS  /  JavaScript  /  Python</a:t>
            </a:r>
            <a:endParaRPr kumimoji="1" lang="ko-Kore-KR" altLang="en-US" sz="1600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652478-30A9-DD48-BF60-01AC02DCF526}"/>
              </a:ext>
            </a:extLst>
          </p:cNvPr>
          <p:cNvSpPr txBox="1"/>
          <p:nvPr/>
        </p:nvSpPr>
        <p:spPr>
          <a:xfrm>
            <a:off x="265234" y="5885229"/>
            <a:ext cx="7357463" cy="646260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05.</a:t>
            </a:r>
            <a:r>
              <a:rPr kumimoji="1" lang="ko-KR" altLang="en-US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kumimoji="1" lang="en-US" altLang="ko-KR" sz="36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WebAPIs</a:t>
            </a:r>
            <a:endParaRPr kumimoji="1" lang="ko-Kore-KR" altLang="en-US" sz="36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1028" name="Picture 4" descr="scrollTo">
            <a:extLst>
              <a:ext uri="{FF2B5EF4-FFF2-40B4-BE49-F238E27FC236}">
                <a16:creationId xmlns:a16="http://schemas.microsoft.com/office/drawing/2014/main" id="{A37EB5EB-873B-8D43-ADB5-67B561305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39" y="530543"/>
            <a:ext cx="12206651" cy="4577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273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4024" y="3460960"/>
            <a:ext cx="7042151" cy="535531"/>
          </a:xfrm>
        </p:spPr>
        <p:txBody>
          <a:bodyPr/>
          <a:lstStyle/>
          <a:p>
            <a:r>
              <a:rPr lang="en-US" altLang="en-US" dirty="0"/>
              <a:t>Browser </a:t>
            </a:r>
            <a:r>
              <a:rPr lang="ko-KR" altLang="en-US" dirty="0"/>
              <a:t>구조</a:t>
            </a:r>
            <a:endParaRPr lang="ko-Kore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ore-KR" dirty="0"/>
              <a:t>1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37438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Browser </a:t>
            </a:r>
            <a:r>
              <a:rPr lang="ko-KR" altLang="en-US" dirty="0"/>
              <a:t>구조</a:t>
            </a:r>
            <a:endParaRPr lang="ko-Kore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89698C-A832-2D49-B48D-2CFBA52056D4}"/>
              </a:ext>
            </a:extLst>
          </p:cNvPr>
          <p:cNvSpPr txBox="1"/>
          <p:nvPr/>
        </p:nvSpPr>
        <p:spPr>
          <a:xfrm>
            <a:off x="685799" y="1162879"/>
            <a:ext cx="7739486" cy="1977715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Web API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란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?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ko-KR" dirty="0">
                <a:solidFill>
                  <a:schemeClr val="bg1"/>
                </a:solidFill>
                <a:latin typeface="+mn-ea"/>
              </a:rPr>
              <a:t>Application Programming Interface.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웹 브라우저의 기능을 확장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모든 브라우저에서는 복잡한 작업을 지원하고 데이터 액세스를 지원함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22551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3CB379C0-A759-EF4A-BB4E-330C22F81C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366" r="11098"/>
          <a:stretch/>
        </p:blipFill>
        <p:spPr>
          <a:xfrm>
            <a:off x="6937806" y="2518452"/>
            <a:ext cx="4415994" cy="379881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Browser </a:t>
            </a:r>
            <a:r>
              <a:rPr lang="ko-KR" altLang="en-US" dirty="0"/>
              <a:t>구조</a:t>
            </a:r>
            <a:endParaRPr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DB081-3EDD-B447-A09C-3E590BCA4EA9}"/>
              </a:ext>
            </a:extLst>
          </p:cNvPr>
          <p:cNvSpPr txBox="1"/>
          <p:nvPr/>
        </p:nvSpPr>
        <p:spPr>
          <a:xfrm>
            <a:off x="685799" y="1162879"/>
            <a:ext cx="7210495" cy="1562216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DOM(Document Object Model)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문서에 대한 모든 내용을 담고있는 객체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문서 즉 열려진 페이지에 대한 정보를 따로 객체화 시켜서 관리함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98FE09-2EE3-6647-82B6-14C30D192D6E}"/>
              </a:ext>
            </a:extLst>
          </p:cNvPr>
          <p:cNvSpPr txBox="1"/>
          <p:nvPr/>
        </p:nvSpPr>
        <p:spPr>
          <a:xfrm>
            <a:off x="685798" y="3429000"/>
            <a:ext cx="6378536" cy="1977715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BOM(</a:t>
            </a:r>
            <a:r>
              <a:rPr kumimoji="1" lang="en-US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Brouser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Object Model)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브라우저에 대한 모든 내용을 담고있는 객체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뒤로가기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북마크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즐겨찾기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히스토리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URL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정보 등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브라우저가 가지고 있는 정보를 따로 객체화 시켜서 관리함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2567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Browser </a:t>
            </a:r>
            <a:r>
              <a:rPr lang="ko-KR" altLang="en-US" dirty="0"/>
              <a:t>구조</a:t>
            </a:r>
            <a:endParaRPr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DB081-3EDD-B447-A09C-3E590BCA4EA9}"/>
              </a:ext>
            </a:extLst>
          </p:cNvPr>
          <p:cNvSpPr txBox="1"/>
          <p:nvPr/>
        </p:nvSpPr>
        <p:spPr>
          <a:xfrm>
            <a:off x="685799" y="1029317"/>
            <a:ext cx="8730142" cy="761997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window API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ko-KR" dirty="0">
                <a:solidFill>
                  <a:schemeClr val="bg1"/>
                </a:solidFill>
                <a:latin typeface="+mn-ea"/>
              </a:rPr>
              <a:t>window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인터페이스는 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DOM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문서를 담은 창으로 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DOM, BOM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을 포함하고 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FBEBA9C3-C099-7849-BBD7-AEBC49D85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47" y="1924876"/>
            <a:ext cx="7182567" cy="4562182"/>
          </a:xfrm>
          <a:prstGeom prst="rect">
            <a:avLst/>
          </a:prstGeom>
        </p:spPr>
      </p:pic>
      <p:pic>
        <p:nvPicPr>
          <p:cNvPr id="12" name="그림 11" descr="텍스트, 스크린샷, 검은색이(가) 표시된 사진&#10;&#10;자동 생성된 설명">
            <a:extLst>
              <a:ext uri="{FF2B5EF4-FFF2-40B4-BE49-F238E27FC236}">
                <a16:creationId xmlns:a16="http://schemas.microsoft.com/office/drawing/2014/main" id="{FE59B186-8A56-FB47-BAC7-B9F252894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268" y="2882728"/>
            <a:ext cx="4300998" cy="356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250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Browser </a:t>
            </a:r>
            <a:r>
              <a:rPr lang="ko-KR" altLang="en-US" dirty="0"/>
              <a:t>구조</a:t>
            </a:r>
            <a:r>
              <a:rPr lang="en-US" altLang="ko-KR" dirty="0"/>
              <a:t> </a:t>
            </a:r>
            <a:r>
              <a:rPr lang="en-US" altLang="ko-KR" b="0" dirty="0"/>
              <a:t>-</a:t>
            </a:r>
            <a:r>
              <a:rPr lang="ko-KR" altLang="en-US" b="0" dirty="0"/>
              <a:t> 크기</a:t>
            </a:r>
            <a:endParaRPr lang="ko-Kore-KR" altLang="en-US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3E104-6064-5544-9CA7-8B454BB01E50}"/>
              </a:ext>
            </a:extLst>
          </p:cNvPr>
          <p:cNvSpPr txBox="1"/>
          <p:nvPr/>
        </p:nvSpPr>
        <p:spPr>
          <a:xfrm>
            <a:off x="685799" y="1162879"/>
            <a:ext cx="2319861" cy="761997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window.screen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모니터의 사이즈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2CA8B2-DB50-2242-B50D-E7169E01DEC9}"/>
              </a:ext>
            </a:extLst>
          </p:cNvPr>
          <p:cNvSpPr txBox="1"/>
          <p:nvPr/>
        </p:nvSpPr>
        <p:spPr>
          <a:xfrm>
            <a:off x="685799" y="2253271"/>
            <a:ext cx="2401486" cy="761997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window.outer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브라우저의 사이트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4B9B06-6323-144D-82A8-F8D17B62A9EF}"/>
              </a:ext>
            </a:extLst>
          </p:cNvPr>
          <p:cNvSpPr txBox="1"/>
          <p:nvPr/>
        </p:nvSpPr>
        <p:spPr>
          <a:xfrm>
            <a:off x="726806" y="4434055"/>
            <a:ext cx="5223220" cy="761997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document.documentElement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Window.inner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에서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스크롤바의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크기까지 제외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A6E4C9-5A17-E948-BC5B-B45CDF69E4D1}"/>
              </a:ext>
            </a:extLst>
          </p:cNvPr>
          <p:cNvSpPr txBox="1"/>
          <p:nvPr/>
        </p:nvSpPr>
        <p:spPr>
          <a:xfrm>
            <a:off x="704495" y="3343663"/>
            <a:ext cx="2633921" cy="761997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window.inner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  <a:latin typeface="+mn-ea"/>
              </a:rPr>
              <a:t>HTML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문서의 사이즈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89462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Browser </a:t>
            </a:r>
            <a:r>
              <a:rPr lang="ko-KR" altLang="en-US" dirty="0"/>
              <a:t>구조</a:t>
            </a:r>
            <a:r>
              <a:rPr lang="en-US" altLang="ko-KR" dirty="0"/>
              <a:t> </a:t>
            </a:r>
            <a:r>
              <a:rPr lang="en-US" altLang="ko-KR" b="0" dirty="0"/>
              <a:t>-</a:t>
            </a:r>
            <a:r>
              <a:rPr lang="ko-KR" altLang="en-US" b="0" dirty="0"/>
              <a:t> 크기</a:t>
            </a:r>
            <a:endParaRPr lang="ko-Kore-KR" altLang="en-US" b="0" dirty="0"/>
          </a:p>
        </p:txBody>
      </p:sp>
      <p:pic>
        <p:nvPicPr>
          <p:cNvPr id="4098" name="Picture 2" descr="자바스크립트] 브라우저 크기(너비, 높이) 및 브라우저 화면 사이즈">
            <a:extLst>
              <a:ext uri="{FF2B5EF4-FFF2-40B4-BE49-F238E27FC236}">
                <a16:creationId xmlns:a16="http://schemas.microsoft.com/office/drawing/2014/main" id="{734FDD0D-B46F-B049-B400-6D85CB492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93" y="1150801"/>
            <a:ext cx="10160000" cy="511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8587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Browser </a:t>
            </a:r>
            <a:r>
              <a:rPr lang="ko-KR" altLang="en-US" dirty="0"/>
              <a:t>구조</a:t>
            </a:r>
            <a:r>
              <a:rPr lang="en-US" altLang="ko-KR" dirty="0"/>
              <a:t> </a:t>
            </a:r>
            <a:r>
              <a:rPr lang="en-US" altLang="ko-KR" b="0" dirty="0"/>
              <a:t>-</a:t>
            </a:r>
            <a:r>
              <a:rPr lang="ko-KR" altLang="en-US" b="0" dirty="0"/>
              <a:t> 크기</a:t>
            </a:r>
            <a:endParaRPr lang="ko-Kore-KR" altLang="en-US" b="0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2407447E-E6DD-2148-811B-D2125D48A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56" y="1291451"/>
            <a:ext cx="9324114" cy="448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370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Browser </a:t>
            </a:r>
            <a:r>
              <a:rPr lang="ko-KR" altLang="en-US" dirty="0"/>
              <a:t>구조</a:t>
            </a:r>
            <a:r>
              <a:rPr lang="en-US" altLang="ko-KR" dirty="0"/>
              <a:t> </a:t>
            </a:r>
            <a:r>
              <a:rPr lang="en-US" altLang="ko-KR" b="0" dirty="0"/>
              <a:t>-</a:t>
            </a:r>
            <a:r>
              <a:rPr lang="ko-KR" altLang="en-US" b="0" dirty="0"/>
              <a:t> 크기</a:t>
            </a:r>
            <a:endParaRPr lang="ko-Kore-KR" altLang="en-US" b="0" dirty="0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38BAB1AC-EFDD-8343-907B-C75C27D25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92" y="1132748"/>
            <a:ext cx="8409043" cy="543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3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Browser </a:t>
            </a:r>
            <a:r>
              <a:rPr lang="ko-KR" altLang="en-US" dirty="0"/>
              <a:t>구조</a:t>
            </a:r>
            <a:r>
              <a:rPr lang="en-US" altLang="ko-KR" dirty="0"/>
              <a:t> </a:t>
            </a:r>
            <a:r>
              <a:rPr lang="en-US" altLang="ko-KR" b="0" dirty="0"/>
              <a:t>-</a:t>
            </a:r>
            <a:r>
              <a:rPr lang="ko-KR" altLang="en-US" b="0" dirty="0"/>
              <a:t> 좌표</a:t>
            </a:r>
            <a:endParaRPr lang="ko-Kore-KR" altLang="en-US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3E104-6064-5544-9CA7-8B454BB01E50}"/>
              </a:ext>
            </a:extLst>
          </p:cNvPr>
          <p:cNvSpPr txBox="1"/>
          <p:nvPr/>
        </p:nvSpPr>
        <p:spPr>
          <a:xfrm>
            <a:off x="685799" y="1162879"/>
            <a:ext cx="2119678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Browser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좌표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8202" name="Picture 10" descr="절대좌표, 상대좌표">
            <a:extLst>
              <a:ext uri="{FF2B5EF4-FFF2-40B4-BE49-F238E27FC236}">
                <a16:creationId xmlns:a16="http://schemas.microsoft.com/office/drawing/2014/main" id="{2FA89A0A-3F41-464E-ADA6-D9A0104D8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804" y="1655424"/>
            <a:ext cx="6338332" cy="4751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55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Browser </a:t>
            </a:r>
            <a:r>
              <a:rPr lang="ko-KR" altLang="en-US" dirty="0"/>
              <a:t>구조</a:t>
            </a:r>
            <a:r>
              <a:rPr lang="en-US" altLang="ko-KR" dirty="0"/>
              <a:t> </a:t>
            </a:r>
            <a:r>
              <a:rPr lang="en-US" altLang="ko-KR" b="0" dirty="0"/>
              <a:t>-</a:t>
            </a:r>
            <a:r>
              <a:rPr lang="ko-KR" altLang="en-US" b="0" dirty="0"/>
              <a:t> 좌표</a:t>
            </a:r>
            <a:endParaRPr lang="ko-Kore-KR" altLang="en-US" b="0" dirty="0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E3E6C2C7-A43A-934E-A058-8D4C19151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41" y="1117599"/>
            <a:ext cx="3855488" cy="5178589"/>
          </a:xfrm>
          <a:prstGeom prst="rect">
            <a:avLst/>
          </a:prstGeom>
        </p:spPr>
      </p:pic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C4438219-EFFD-1A45-99C7-CC9928E79A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916" y="1117599"/>
            <a:ext cx="6131791" cy="357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70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Browser </a:t>
            </a:r>
            <a:r>
              <a:rPr lang="ko-KR" altLang="en-US" dirty="0"/>
              <a:t>구조</a:t>
            </a:r>
            <a:r>
              <a:rPr lang="en-US" altLang="ko-KR" dirty="0"/>
              <a:t> </a:t>
            </a:r>
            <a:r>
              <a:rPr lang="en-US" altLang="ko-KR" b="0" dirty="0"/>
              <a:t>-</a:t>
            </a:r>
            <a:r>
              <a:rPr lang="ko-KR" altLang="en-US" b="0" dirty="0"/>
              <a:t> 좌표</a:t>
            </a:r>
            <a:endParaRPr lang="ko-Kore-KR" altLang="en-US" b="0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6934FD61-632B-B640-83C4-8F851812F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250" y="444911"/>
            <a:ext cx="6330950" cy="596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21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Browser </a:t>
            </a:r>
            <a:r>
              <a:rPr lang="ko-KR" altLang="en-US" dirty="0"/>
              <a:t>구조</a:t>
            </a:r>
            <a:r>
              <a:rPr lang="en-US" altLang="ko-KR" dirty="0"/>
              <a:t> </a:t>
            </a:r>
            <a:r>
              <a:rPr lang="en-US" altLang="ko-KR" b="0" dirty="0"/>
              <a:t>–</a:t>
            </a:r>
            <a:r>
              <a:rPr lang="ko-KR" altLang="en-US" b="0" dirty="0"/>
              <a:t> </a:t>
            </a:r>
            <a:r>
              <a:rPr lang="en-US" altLang="ko-KR" b="0" dirty="0"/>
              <a:t>load </a:t>
            </a:r>
            <a:r>
              <a:rPr lang="ko-KR" altLang="en-US" b="0" dirty="0" err="1"/>
              <a:t>콜백</a:t>
            </a:r>
            <a:endParaRPr lang="ko-Kore-KR" altLang="en-US" b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25B6B4-3306-5446-B01E-A4BE874EEA25}"/>
              </a:ext>
            </a:extLst>
          </p:cNvPr>
          <p:cNvSpPr txBox="1"/>
          <p:nvPr/>
        </p:nvSpPr>
        <p:spPr>
          <a:xfrm>
            <a:off x="685799" y="1162879"/>
            <a:ext cx="10109942" cy="1177496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DOMContentLoaded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" altLang="ko-KR" dirty="0" err="1">
                <a:solidFill>
                  <a:schemeClr val="bg1"/>
                </a:solidFill>
                <a:latin typeface="+mn-ea"/>
              </a:rPr>
              <a:t>DOMContentLoaded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이벤트는 초기 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HTML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문서를 완전히 불러오고 분석했을 때 발생합니다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스타일 시트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이미지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하위 프레임의 로딩은 기다리지 않습니다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FC45BA-2142-FA41-BADD-1FABDD1E54BE}"/>
              </a:ext>
            </a:extLst>
          </p:cNvPr>
          <p:cNvSpPr txBox="1"/>
          <p:nvPr/>
        </p:nvSpPr>
        <p:spPr>
          <a:xfrm>
            <a:off x="755073" y="2610392"/>
            <a:ext cx="9015412" cy="761997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load</a:t>
            </a:r>
          </a:p>
          <a:p>
            <a:pPr>
              <a:lnSpc>
                <a:spcPct val="150000"/>
              </a:lnSpc>
            </a:pPr>
            <a:r>
              <a:rPr lang="en" altLang="ko-KR" dirty="0">
                <a:solidFill>
                  <a:schemeClr val="bg1"/>
                </a:solidFill>
                <a:latin typeface="+mn-ea"/>
              </a:rPr>
              <a:t>load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이벤트는 리소스와 그것에 의존하는 리소스들의 로딩이 완료되면 실행됩니다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90D97C-ECEC-1D42-B717-70578F59128C}"/>
              </a:ext>
            </a:extLst>
          </p:cNvPr>
          <p:cNvSpPr txBox="1"/>
          <p:nvPr/>
        </p:nvSpPr>
        <p:spPr>
          <a:xfrm>
            <a:off x="755073" y="3676062"/>
            <a:ext cx="7747500" cy="1177496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beforeunload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문서와 그 리소스가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언로드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되기 직전에 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window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에서 발생합니다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이벤트 발생 시점엔 문서를 아직 볼 수 있으며 이벤트도 취소 가능합니다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CEDF1-A69A-8B40-8B77-C3D157DA93EF}"/>
              </a:ext>
            </a:extLst>
          </p:cNvPr>
          <p:cNvSpPr txBox="1"/>
          <p:nvPr/>
        </p:nvSpPr>
        <p:spPr>
          <a:xfrm>
            <a:off x="755073" y="5106373"/>
            <a:ext cx="6348079" cy="761997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unload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이벤트는 문서나 하위 리소스가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언로딩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중일 때 발생합니다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6852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Browser </a:t>
            </a:r>
            <a:r>
              <a:rPr lang="ko-KR" altLang="en-US" dirty="0"/>
              <a:t>구조</a:t>
            </a:r>
            <a:r>
              <a:rPr lang="en-US" altLang="ko-KR" dirty="0"/>
              <a:t> </a:t>
            </a:r>
            <a:r>
              <a:rPr lang="en-US" altLang="ko-KR" b="0" dirty="0"/>
              <a:t>–</a:t>
            </a:r>
            <a:r>
              <a:rPr lang="ko-KR" altLang="en-US" b="0" dirty="0"/>
              <a:t> </a:t>
            </a:r>
            <a:r>
              <a:rPr lang="en-US" altLang="ko-KR" b="0" dirty="0"/>
              <a:t>load </a:t>
            </a:r>
            <a:r>
              <a:rPr lang="ko-KR" altLang="en-US" b="0" dirty="0" err="1"/>
              <a:t>콜백</a:t>
            </a:r>
            <a:endParaRPr lang="ko-Kore-KR" altLang="en-US" b="0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A8C9731E-F434-0845-8309-2C9862057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97" y="1188602"/>
            <a:ext cx="7351568" cy="429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40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4024" y="3460960"/>
            <a:ext cx="7042151" cy="535531"/>
          </a:xfrm>
        </p:spPr>
        <p:txBody>
          <a:bodyPr/>
          <a:lstStyle/>
          <a:p>
            <a:r>
              <a:rPr lang="en-US" altLang="en-US" dirty="0"/>
              <a:t>Document Object Model</a:t>
            </a:r>
            <a:endParaRPr lang="ko-Kore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5832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DOM</a:t>
            </a:r>
            <a:endParaRPr lang="ko-Kore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89698C-A832-2D49-B48D-2CFBA52056D4}"/>
              </a:ext>
            </a:extLst>
          </p:cNvPr>
          <p:cNvSpPr txBox="1"/>
          <p:nvPr/>
        </p:nvSpPr>
        <p:spPr>
          <a:xfrm>
            <a:off x="685799" y="1162879"/>
            <a:ext cx="10839694" cy="4886203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Document Object Model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이란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?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문서 객체 모델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(The Document Object Model,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이하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DOM)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은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HTML, XML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문서의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프로그래밍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interface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이다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DOM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은 문서의 구조화된 표현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(structured representation)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을 제공하며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프로그래밍 언어가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DOM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구조에 접근할 수 있는 방법을 제공하여 그들이 문서 구조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스타일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내용 등을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변경할 수 있게 돕는다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웹 페이지는 일종의 문서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(document)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이 문서는 웹 브라우저를 통해 그 내용이 해석되어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웹 브라우저 화면에 나타나거나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HTML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소스 자체로 나타나기도 한다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+mn-ea"/>
              </a:rPr>
              <a:t>DOM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은 웹 페이지의 객체 지향 표현이며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자바스크립트와 같은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스크립팅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언어를 이용해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+mn-ea"/>
              </a:rPr>
              <a:t>DOM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을 수정할 수 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7047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DOM</a:t>
            </a:r>
            <a:r>
              <a:rPr lang="ko-KR" altLang="en-US" dirty="0"/>
              <a:t> </a:t>
            </a:r>
            <a:r>
              <a:rPr lang="en-US" altLang="ko-KR" sz="1600" b="0" dirty="0"/>
              <a:t>–</a:t>
            </a:r>
            <a:r>
              <a:rPr lang="ko-KR" altLang="en-US" sz="1600" b="0" dirty="0"/>
              <a:t> </a:t>
            </a:r>
            <a:r>
              <a:rPr lang="en-US" altLang="ko-KR" sz="1600" b="0" dirty="0"/>
              <a:t>html</a:t>
            </a:r>
            <a:r>
              <a:rPr lang="ko-KR" altLang="en-US" sz="1600" b="0" dirty="0"/>
              <a:t>이 </a:t>
            </a:r>
            <a:r>
              <a:rPr lang="en-US" altLang="ko-KR" sz="1600" b="0" dirty="0"/>
              <a:t>DOM</a:t>
            </a:r>
            <a:r>
              <a:rPr lang="ko-KR" altLang="en-US" sz="1600" b="0" dirty="0"/>
              <a:t> 요소로 변환 되는 방식</a:t>
            </a:r>
            <a:endParaRPr lang="ko-Kore-KR" altLang="en-US" b="0" dirty="0"/>
          </a:p>
        </p:txBody>
      </p:sp>
      <p:pic>
        <p:nvPicPr>
          <p:cNvPr id="1028" name="Picture 4" descr="Javascript] DOM (Document Object Model) :: pridiot">
            <a:extLst>
              <a:ext uri="{FF2B5EF4-FFF2-40B4-BE49-F238E27FC236}">
                <a16:creationId xmlns:a16="http://schemas.microsoft.com/office/drawing/2014/main" id="{D6BE0E79-E80B-354C-87FD-172C67CF0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08" y="876034"/>
            <a:ext cx="9783006" cy="565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3560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02</a:t>
            </a:r>
            <a:endParaRPr kumimoji="1" lang="ko-Kore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0F7FADF-8A35-CA40-8179-51AE5CE9F2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29"/>
          <a:stretch/>
        </p:blipFill>
        <p:spPr>
          <a:xfrm>
            <a:off x="1274617" y="931340"/>
            <a:ext cx="8562110" cy="5653878"/>
          </a:xfrm>
          <a:prstGeom prst="rect">
            <a:avLst/>
          </a:prstGeom>
        </p:spPr>
      </p:pic>
      <p:sp>
        <p:nvSpPr>
          <p:cNvPr id="14" name="내용 개체 틀 3">
            <a:extLst>
              <a:ext uri="{FF2B5EF4-FFF2-40B4-BE49-F238E27FC236}">
                <a16:creationId xmlns:a16="http://schemas.microsoft.com/office/drawing/2014/main" id="{01060D3A-5848-FF43-B284-1DBBA9994F3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DOM</a:t>
            </a:r>
            <a:r>
              <a:rPr lang="ko-KR" altLang="en-US" dirty="0"/>
              <a:t> </a:t>
            </a:r>
            <a:r>
              <a:rPr lang="en-US" altLang="ko-KR" sz="1600" b="0" dirty="0"/>
              <a:t>–</a:t>
            </a:r>
            <a:r>
              <a:rPr lang="ko-KR" altLang="en-US" sz="1600" b="0" dirty="0"/>
              <a:t> </a:t>
            </a:r>
            <a:r>
              <a:rPr lang="en-US" altLang="ko-KR" sz="1600" b="0" dirty="0"/>
              <a:t>html</a:t>
            </a:r>
            <a:r>
              <a:rPr lang="ko-KR" altLang="en-US" sz="1600" b="0" dirty="0"/>
              <a:t>이 </a:t>
            </a:r>
            <a:r>
              <a:rPr lang="en-US" altLang="ko-KR" sz="1600" b="0" dirty="0"/>
              <a:t>DOM</a:t>
            </a:r>
            <a:r>
              <a:rPr lang="ko-KR" altLang="en-US" sz="1600" b="0" dirty="0"/>
              <a:t> 요소로 변환 되는 방식</a:t>
            </a:r>
            <a:endParaRPr lang="ko-Kore-KR" altLang="en-US" b="0" dirty="0"/>
          </a:p>
        </p:txBody>
      </p:sp>
    </p:spTree>
    <p:extLst>
      <p:ext uri="{BB962C8B-B14F-4D97-AF65-F5344CB8AC3E}">
        <p14:creationId xmlns:p14="http://schemas.microsoft.com/office/powerpoint/2010/main" val="1375726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19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DOM</a:t>
            </a:r>
            <a:endParaRPr lang="ko-Kore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7CD84DC-7F87-C249-A106-964685D927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7172"/>
          <a:stretch/>
        </p:blipFill>
        <p:spPr>
          <a:xfrm>
            <a:off x="510137" y="1440873"/>
            <a:ext cx="6305007" cy="344978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EA7C149-74B1-F847-9BB2-ACEFF90042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2222"/>
          <a:stretch/>
        </p:blipFill>
        <p:spPr>
          <a:xfrm>
            <a:off x="4993372" y="1288467"/>
            <a:ext cx="6305008" cy="465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122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4024" y="3460960"/>
            <a:ext cx="7042151" cy="535531"/>
          </a:xfrm>
        </p:spPr>
        <p:txBody>
          <a:bodyPr/>
          <a:lstStyle/>
          <a:p>
            <a:r>
              <a:rPr lang="en-US" altLang="en-US" dirty="0"/>
              <a:t>CSS Object Model</a:t>
            </a:r>
            <a:endParaRPr lang="ko-Kore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28067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21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3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CSSOM</a:t>
            </a:r>
            <a:endParaRPr lang="ko-Kore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89698C-A832-2D49-B48D-2CFBA52056D4}"/>
              </a:ext>
            </a:extLst>
          </p:cNvPr>
          <p:cNvSpPr txBox="1"/>
          <p:nvPr/>
        </p:nvSpPr>
        <p:spPr>
          <a:xfrm>
            <a:off x="685799" y="1162879"/>
            <a:ext cx="8313617" cy="1977715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CSS Object Model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이란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?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ko-KR" dirty="0">
                <a:solidFill>
                  <a:schemeClr val="bg1"/>
                </a:solidFill>
                <a:latin typeface="+mn-ea"/>
              </a:rPr>
              <a:t>CSS Object Model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은 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JavaScript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에서 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CSS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를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조작할 수 있는 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API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집합입니다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" altLang="ko-KR" dirty="0">
                <a:solidFill>
                  <a:schemeClr val="bg1"/>
                </a:solidFill>
                <a:latin typeface="+mn-ea"/>
              </a:rPr>
              <a:t>HTML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대신 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CSS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가 대상인 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DOM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이라고 생각할 수 있으며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사용자가 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CSS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스타일을 동적으로 읽고 수정할 수 있습니다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5463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22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3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CSSOM</a:t>
            </a:r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63BAA5-C88C-7B43-9CEA-57D46F8D682E}"/>
              </a:ext>
            </a:extLst>
          </p:cNvPr>
          <p:cNvSpPr txBox="1"/>
          <p:nvPr/>
        </p:nvSpPr>
        <p:spPr>
          <a:xfrm>
            <a:off x="685799" y="1947639"/>
            <a:ext cx="10565580" cy="2138976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457200" indent="-457200" defTabSz="912813" fontAlgn="base">
              <a:spcBef>
                <a:spcPts val="600"/>
              </a:spcBef>
              <a:spcAft>
                <a:spcPct val="0"/>
              </a:spcAft>
              <a:buAutoNum type="arabicPeriod"/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브라우저가 </a:t>
            </a: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HTML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로드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. </a:t>
            </a:r>
          </a:p>
          <a:p>
            <a:pPr marL="457200" indent="-457200" defTabSz="912813" fontAlgn="base">
              <a:spcBef>
                <a:spcPts val="600"/>
              </a:spcBef>
              <a:spcAft>
                <a:spcPct val="0"/>
              </a:spcAft>
              <a:buAutoNum type="arabicPeriod"/>
            </a:pP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HTML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을 </a:t>
            </a: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DOM (Document Object Model)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로 변환</a:t>
            </a:r>
            <a:endParaRPr kumimoji="1" lang="en-US" altLang="ko-KR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n-ea"/>
              <a:cs typeface="Arial" panose="020B0604020202020204" pitchFamily="34" charset="0"/>
            </a:endParaRPr>
          </a:p>
          <a:p>
            <a:pPr marL="457200" indent="-457200" defTabSz="912813" fontAlgn="base">
              <a:spcBef>
                <a:spcPts val="600"/>
              </a:spcBef>
              <a:spcAft>
                <a:spcPct val="0"/>
              </a:spcAft>
              <a:buAutoNum type="arabicPeriod"/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포함된 이미지 및 비디오와 같은 </a:t>
            </a:r>
            <a:r>
              <a:rPr kumimoji="1" lang="en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HTML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문서에 연결된 대부분의 리소스와 연결된 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 CSS</a:t>
            </a: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를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 가져옴</a:t>
            </a:r>
            <a:endParaRPr kumimoji="1" lang="en-US" altLang="ko-KR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n-ea"/>
              <a:cs typeface="Arial" panose="020B0604020202020204" pitchFamily="34" charset="0"/>
            </a:endParaRPr>
          </a:p>
          <a:p>
            <a:pPr marL="457200" indent="-457200" defTabSz="912813" fontAlgn="base">
              <a:spcBef>
                <a:spcPts val="600"/>
              </a:spcBef>
              <a:spcAft>
                <a:spcPct val="0"/>
              </a:spcAft>
              <a:buAutoNum type="arabicPeriod"/>
            </a:pPr>
            <a:r>
              <a:rPr kumimoji="1" lang="ko-KR" altLang="en-US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렌더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 트리 생성</a:t>
            </a:r>
            <a:endParaRPr kumimoji="1" lang="en-US" altLang="ko-KR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n-ea"/>
              <a:cs typeface="Arial" panose="020B0604020202020204" pitchFamily="34" charset="0"/>
            </a:endParaRPr>
          </a:p>
          <a:p>
            <a:pPr marL="457200" indent="-457200" defTabSz="912813" fontAlgn="base">
              <a:spcBef>
                <a:spcPts val="600"/>
              </a:spcBef>
              <a:spcAft>
                <a:spcPct val="0"/>
              </a:spcAft>
              <a:buAutoNum type="arabicPeriod"/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레이아웃 배치</a:t>
            </a:r>
            <a:endParaRPr kumimoji="1" lang="en-US" altLang="ko-KR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FF0000"/>
              </a:solidFill>
              <a:latin typeface="+mn-ea"/>
              <a:cs typeface="Arial" panose="020B0604020202020204" pitchFamily="34" charset="0"/>
            </a:endParaRPr>
          </a:p>
          <a:p>
            <a:pPr marL="457200" indent="-457200" defTabSz="912813" fontAlgn="base">
              <a:spcBef>
                <a:spcPts val="600"/>
              </a:spcBef>
              <a:spcAft>
                <a:spcPct val="0"/>
              </a:spcAft>
              <a:buAutoNum type="arabicPeriod"/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화면 그리기</a:t>
            </a:r>
            <a:endParaRPr kumimoji="1" lang="en-US" altLang="ko-KR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FF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2343B9-64FA-814A-A636-30F85770DA5D}"/>
              </a:ext>
            </a:extLst>
          </p:cNvPr>
          <p:cNvSpPr txBox="1"/>
          <p:nvPr/>
        </p:nvSpPr>
        <p:spPr>
          <a:xfrm>
            <a:off x="685799" y="1162879"/>
            <a:ext cx="2952534" cy="784760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Critical Render Path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890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3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CSSOM</a:t>
            </a:r>
            <a:endParaRPr lang="ko-Kore-KR" altLang="en-US" dirty="0"/>
          </a:p>
        </p:txBody>
      </p:sp>
      <p:pic>
        <p:nvPicPr>
          <p:cNvPr id="4102" name="Picture 6" descr="Critical Render Path Optimisation — How To Increase Your Page Speed | by  Abi Travers | Compare the Market | Medium">
            <a:extLst>
              <a:ext uri="{FF2B5EF4-FFF2-40B4-BE49-F238E27FC236}">
                <a16:creationId xmlns:a16="http://schemas.microsoft.com/office/drawing/2014/main" id="{8268B249-78A4-FB4C-BBBC-446B90D49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1155700"/>
            <a:ext cx="11925300" cy="454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CD9BE825-50BD-3440-BE62-D97F2D93E942}"/>
                  </a:ext>
                </a:extLst>
              </p14:cNvPr>
              <p14:cNvContentPartPr/>
              <p14:nvPr/>
            </p14:nvContentPartPr>
            <p14:xfrm>
              <a:off x="8618007" y="3282785"/>
              <a:ext cx="583920" cy="35748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CD9BE825-50BD-3440-BE62-D97F2D93E94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09007" y="3274145"/>
                <a:ext cx="60156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9EA2A0BF-5DE3-0D43-AB79-C0A18FB5D1B7}"/>
                  </a:ext>
                </a:extLst>
              </p14:cNvPr>
              <p14:cNvContentPartPr/>
              <p14:nvPr/>
            </p14:nvContentPartPr>
            <p14:xfrm>
              <a:off x="10622127" y="2870585"/>
              <a:ext cx="1019160" cy="73944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9EA2A0BF-5DE3-0D43-AB79-C0A18FB5D1B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13127" y="2861945"/>
                <a:ext cx="1036800" cy="7570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841466-B3A6-C747-B55E-FEE49C7EC86A}"/>
              </a:ext>
            </a:extLst>
          </p:cNvPr>
          <p:cNvSpPr/>
          <p:nvPr/>
        </p:nvSpPr>
        <p:spPr>
          <a:xfrm>
            <a:off x="9242650" y="4874637"/>
            <a:ext cx="2311200" cy="9005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Composite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67487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24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3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CSSOM</a:t>
            </a:r>
            <a:endParaRPr lang="ko-Kore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2D89AEE-ADB0-A641-823E-B030FA5D84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965" t="9893"/>
          <a:stretch/>
        </p:blipFill>
        <p:spPr>
          <a:xfrm>
            <a:off x="6096000" y="1289050"/>
            <a:ext cx="5510161" cy="4279900"/>
          </a:xfrm>
          <a:prstGeom prst="rect">
            <a:avLst/>
          </a:prstGeom>
        </p:spPr>
      </p:pic>
      <p:pic>
        <p:nvPicPr>
          <p:cNvPr id="8" name="그림 7" descr="텍스트, 스크린샷, 모니터, 검은색이(가) 표시된 사진&#10;&#10;자동 생성된 설명">
            <a:extLst>
              <a:ext uri="{FF2B5EF4-FFF2-40B4-BE49-F238E27FC236}">
                <a16:creationId xmlns:a16="http://schemas.microsoft.com/office/drawing/2014/main" id="{C78C3A35-3F79-D04E-8275-AEB7B699089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0417"/>
          <a:stretch/>
        </p:blipFill>
        <p:spPr>
          <a:xfrm>
            <a:off x="563783" y="1289050"/>
            <a:ext cx="5153101" cy="427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7005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25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3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CSSOM</a:t>
            </a:r>
            <a:endParaRPr lang="ko-Kore-KR" altLang="en-US" dirty="0"/>
          </a:p>
        </p:txBody>
      </p:sp>
      <p:pic>
        <p:nvPicPr>
          <p:cNvPr id="7" name="그림 6" descr="텍스트, 스크린샷, 검은색이(가) 표시된 사진&#10;&#10;자동 생성된 설명">
            <a:extLst>
              <a:ext uri="{FF2B5EF4-FFF2-40B4-BE49-F238E27FC236}">
                <a16:creationId xmlns:a16="http://schemas.microsoft.com/office/drawing/2014/main" id="{88473BA6-D478-8E4A-A12A-C7FFA81428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5936"/>
          <a:stretch/>
        </p:blipFill>
        <p:spPr>
          <a:xfrm>
            <a:off x="782780" y="3339556"/>
            <a:ext cx="8735289" cy="33841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AD85C8-AE3B-EE40-AE02-60B6FE48B61A}"/>
              </a:ext>
            </a:extLst>
          </p:cNvPr>
          <p:cNvSpPr txBox="1"/>
          <p:nvPr/>
        </p:nvSpPr>
        <p:spPr>
          <a:xfrm>
            <a:off x="685799" y="1162879"/>
            <a:ext cx="11075335" cy="1977715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will-change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예상되는 변화의 종류에 관한 힌트를 브라우저에 알려준다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그래서 실제 요소가 변화되기 전에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미리 브라우저는 적절하게 최적화할 수 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이러한 종류의 최적화는 잠재적으로 성능 비용이 큰 작업을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그것이 실제로 요구되기 전에 미리 실행함으로써 페이지의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반응성을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증가시킬 수 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48009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26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3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en-US" dirty="0"/>
              <a:t>CSSOM</a:t>
            </a:r>
            <a:endParaRPr lang="ko-Kore-KR" altLang="en-US" dirty="0"/>
          </a:p>
        </p:txBody>
      </p:sp>
      <p:pic>
        <p:nvPicPr>
          <p:cNvPr id="9" name="그림 8" descr="당구대, 가구, 테이블, 당구장이(가) 표시된 사진&#10;&#10;자동 생성된 설명">
            <a:extLst>
              <a:ext uri="{FF2B5EF4-FFF2-40B4-BE49-F238E27FC236}">
                <a16:creationId xmlns:a16="http://schemas.microsoft.com/office/drawing/2014/main" id="{80B4A16F-0EC5-FA41-9C2C-B3B1729D5E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9" t="7087" r="-209" b="26606"/>
          <a:stretch/>
        </p:blipFill>
        <p:spPr>
          <a:xfrm>
            <a:off x="685799" y="2637992"/>
            <a:ext cx="6641908" cy="33943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85D3C0-DCD3-E84B-A0F8-8F9ACA03BEFB}"/>
              </a:ext>
            </a:extLst>
          </p:cNvPr>
          <p:cNvSpPr txBox="1"/>
          <p:nvPr/>
        </p:nvSpPr>
        <p:spPr>
          <a:xfrm>
            <a:off x="685799" y="1162879"/>
            <a:ext cx="9764078" cy="1146718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will-change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변화될 것을 예상하여 다른 요소들이 영향을 받지 않게 미리 레이어를 분리 하여 관리한다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217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91374" tIns="45685" rIns="91374" bIns="45685">
        <a:spAutoFit/>
      </a:bodyPr>
      <a:lstStyle>
        <a:defPPr algn="l" defTabSz="912813" fontAlgn="base">
          <a:spcBef>
            <a:spcPts val="600"/>
          </a:spcBef>
          <a:spcAft>
            <a:spcPct val="0"/>
          </a:spcAft>
          <a:defRPr kumimoji="1" sz="2000" b="1" dirty="0" err="1">
            <a:ln>
              <a:solidFill>
                <a:schemeClr val="bg1">
                  <a:lumMod val="85000"/>
                  <a:alpha val="0"/>
                </a:schemeClr>
              </a:solidFill>
            </a:ln>
            <a:solidFill>
              <a:srgbClr val="4B465E"/>
            </a:solidFill>
            <a:latin typeface="맑은 고딕" pitchFamily="50" charset="-127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</TotalTime>
  <Words>1625</Words>
  <Application>Microsoft Macintosh PowerPoint</Application>
  <PresentationFormat>와이드스크린</PresentationFormat>
  <Paragraphs>339</Paragraphs>
  <Slides>26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2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批量名称</dc:creator>
  <cp:lastModifiedBy>批量名称</cp:lastModifiedBy>
  <cp:revision>360</cp:revision>
  <dcterms:created xsi:type="dcterms:W3CDTF">2020-12-17T04:08:04Z</dcterms:created>
  <dcterms:modified xsi:type="dcterms:W3CDTF">2021-05-26T03:50:27Z</dcterms:modified>
</cp:coreProperties>
</file>