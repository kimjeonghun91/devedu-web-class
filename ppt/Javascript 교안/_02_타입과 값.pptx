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9" r:id="rId1"/>
  </p:sldMasterIdLst>
  <p:notesMasterIdLst>
    <p:notesMasterId r:id="rId20"/>
  </p:notesMasterIdLst>
  <p:sldIdLst>
    <p:sldId id="266" r:id="rId2"/>
    <p:sldId id="261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2" r:id="rId16"/>
    <p:sldId id="280" r:id="rId17"/>
    <p:sldId id="283" r:id="rId18"/>
    <p:sldId id="281" r:id="rId19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54C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83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5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9" d="100"/>
          <a:sy n="119" d="100"/>
        </p:scale>
        <p:origin x="39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B2E54-8ADE-1C42-B7E1-8C04B8CD0931}" type="datetimeFigureOut">
              <a:rPr kumimoji="1" lang="ko-Kore-KR" altLang="en-US" smtClean="0"/>
              <a:t>4/12/21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A6CA5-1AB8-7840-86E1-8A38211DD31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166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목차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A11D6FC2-3699-114E-A2F5-2DF05DA32C3B}"/>
              </a:ext>
            </a:extLst>
          </p:cNvPr>
          <p:cNvSpPr/>
          <p:nvPr userDrawn="1"/>
        </p:nvSpPr>
        <p:spPr>
          <a:xfrm>
            <a:off x="445064" y="1507744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3838A-BE2E-8E43-B618-8D65C885101B}"/>
              </a:ext>
            </a:extLst>
          </p:cNvPr>
          <p:cNvSpPr txBox="1"/>
          <p:nvPr userDrawn="1"/>
        </p:nvSpPr>
        <p:spPr>
          <a:xfrm>
            <a:off x="667133" y="1548617"/>
            <a:ext cx="128464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78544-F529-9243-9639-1427C2074D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72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4C11287-0330-9147-8C4E-97969ED157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9780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4DD148-E2F3-6F43-A830-B1DF9707D5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567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A3EE9B3-6AC5-F94F-8261-F1619ABE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3347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479462A3-7C4E-9243-902A-129F0F8368E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33424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0" name="텍스트 개체 틀 4">
            <a:extLst>
              <a:ext uri="{FF2B5EF4-FFF2-40B4-BE49-F238E27FC236}">
                <a16:creationId xmlns:a16="http://schemas.microsoft.com/office/drawing/2014/main" id="{955026BC-E4E9-4E4C-A8FA-AA998F48E9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81303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37D67461-D793-1544-B693-992F84F737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3465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5954E74E-5CB1-174E-8154-A3FD85F60F7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3542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F6C9143E-F40A-FD4B-9B91-87D3A44965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1421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12B5D26-A0CE-9341-8145-20A60E6965D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9358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94B07A4E-FE2B-E84D-AE7D-6887DCE53F9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95366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7" name="텍스트 개체 틀 4">
            <a:extLst>
              <a:ext uri="{FF2B5EF4-FFF2-40B4-BE49-F238E27FC236}">
                <a16:creationId xmlns:a16="http://schemas.microsoft.com/office/drawing/2014/main" id="{7F9D5FEC-DBD4-9B47-A8A2-76906CE8BB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0153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22927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제목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11EB12BD-423E-D942-AA60-48E193A3A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26392" y="3460960"/>
            <a:ext cx="7042151" cy="535531"/>
          </a:xfrm>
        </p:spPr>
        <p:txBody>
          <a:bodyPr wrap="square" anchor="ctr" anchorCtr="0">
            <a:spAutoFit/>
          </a:bodyPr>
          <a:lstStyle>
            <a:lvl1pPr>
              <a:buNone/>
              <a:defRPr sz="3200" b="1"/>
            </a:lvl1pPr>
          </a:lstStyle>
          <a:p>
            <a:pPr lvl="0"/>
            <a:r>
              <a:rPr kumimoji="1" lang="ko-KR" altLang="en-US" dirty="0"/>
              <a:t>마스터 텍스트</a:t>
            </a:r>
            <a:endParaRPr kumimoji="1" lang="ko-Kore-KR" altLang="en-US" dirty="0"/>
          </a:p>
        </p:txBody>
      </p:sp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F23B5EBD-C357-6E46-AC78-8CC3CDDA81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35357" y="4052353"/>
            <a:ext cx="7042151" cy="286232"/>
          </a:xfrm>
        </p:spPr>
        <p:txBody>
          <a:bodyPr anchor="ctr" anchorCtr="0">
            <a:spAutoFit/>
          </a:bodyPr>
          <a:lstStyle>
            <a:lvl1pPr>
              <a:buNone/>
              <a:defRPr sz="1400"/>
            </a:lvl1pPr>
          </a:lstStyle>
          <a:p>
            <a:pPr lvl="0"/>
            <a:r>
              <a:rPr kumimoji="1" lang="ko-KR" altLang="en-US" dirty="0"/>
              <a:t>서브 타이틀이 들어가는 자리</a:t>
            </a:r>
            <a:endParaRPr kumimoji="1" lang="ko-Kore-KR" altLang="en-US" dirty="0"/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E0BAA295-AF35-8640-9328-4A9C9801DD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5839" y="2192410"/>
            <a:ext cx="1250576" cy="2723823"/>
          </a:xfrm>
        </p:spPr>
        <p:txBody>
          <a:bodyPr wrap="square" anchor="ctr" anchorCtr="0">
            <a:spAutoFit/>
          </a:bodyPr>
          <a:lstStyle>
            <a:lvl1pPr>
              <a:buNone/>
              <a:defRPr sz="19000" b="1">
                <a:solidFill>
                  <a:srgbClr val="54CFD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703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본문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7C1A53BE-79A1-1443-B395-F66226A9E860}"/>
              </a:ext>
            </a:extLst>
          </p:cNvPr>
          <p:cNvSpPr/>
          <p:nvPr userDrawn="1"/>
        </p:nvSpPr>
        <p:spPr>
          <a:xfrm>
            <a:off x="521264" y="389103"/>
            <a:ext cx="564022" cy="564022"/>
          </a:xfrm>
          <a:prstGeom prst="diamond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n>
                <a:noFill/>
              </a:ln>
            </a:endParaRPr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5CF5FC27-752C-4740-B570-7C440F0BF4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783" y="451302"/>
            <a:ext cx="564021" cy="424732"/>
          </a:xfrm>
        </p:spPr>
        <p:txBody>
          <a:bodyPr wrap="square" anchor="ctr" anchorCtr="0">
            <a:spAutoFit/>
          </a:bodyPr>
          <a:lstStyle>
            <a:lvl1pPr>
              <a:buNone/>
              <a:defRPr sz="2400"/>
            </a:lvl1pPr>
          </a:lstStyle>
          <a:p>
            <a:pPr lvl="0"/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3" name="내용 개체 틀 22">
            <a:extLst>
              <a:ext uri="{FF2B5EF4-FFF2-40B4-BE49-F238E27FC236}">
                <a16:creationId xmlns:a16="http://schemas.microsoft.com/office/drawing/2014/main" id="{9CBA9637-4268-E34F-A033-852CEB4858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0323" y="492852"/>
            <a:ext cx="7507512" cy="341632"/>
          </a:xfrm>
        </p:spPr>
        <p:txBody>
          <a:bodyPr wrap="square" anchor="ctr" anchorCtr="0">
            <a:spAutoFit/>
          </a:bodyPr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내용을</a:t>
            </a:r>
            <a:r>
              <a:rPr kumimoji="1" lang="ko-KR" altLang="en-US" dirty="0"/>
              <a:t> 입력해주세요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232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빈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817A0-D2DA-6D49-A1AD-BB38A5F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0354D-EFF4-C740-B05B-ABA16446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AB323-1000-AE42-8899-8B66CED3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0F8D6-EDB5-6642-890A-B46EEAB9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7161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9B43E-A874-4A44-9D5F-415AF744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0DB9CB-970A-4D4C-A927-880A9661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738FC-4C5D-4142-8C3F-84800D8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2D97F-9D10-D045-890B-2F59FC1A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57B2E-769E-374D-B908-27DE43920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71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0" r:id="rId2"/>
    <p:sldLayoutId id="2147484267" r:id="rId3"/>
    <p:sldLayoutId id="214748426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ko.wikipedia.org/wiki/IEEE_754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9C26C8-649C-D542-BAA7-BFA1E0C99AFE}"/>
              </a:ext>
            </a:extLst>
          </p:cNvPr>
          <p:cNvSpPr/>
          <p:nvPr/>
        </p:nvSpPr>
        <p:spPr>
          <a:xfrm>
            <a:off x="0" y="5715000"/>
            <a:ext cx="12192000" cy="970534"/>
          </a:xfrm>
          <a:prstGeom prst="rect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E8520-2EC0-DB4D-910F-FBCAECEE6417}"/>
              </a:ext>
            </a:extLst>
          </p:cNvPr>
          <p:cNvSpPr txBox="1"/>
          <p:nvPr/>
        </p:nvSpPr>
        <p:spPr>
          <a:xfrm>
            <a:off x="7816906" y="5804308"/>
            <a:ext cx="3938960" cy="52314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WEB </a:t>
            </a:r>
            <a:r>
              <a:rPr kumimoji="1" lang="ko-KR" altLang="en-US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개발 기초 과정</a:t>
            </a:r>
            <a:endParaRPr kumimoji="1" lang="ko-Kore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AAB4F-A5D2-6149-8851-416CBF5FD9F3}"/>
              </a:ext>
            </a:extLst>
          </p:cNvPr>
          <p:cNvSpPr txBox="1"/>
          <p:nvPr/>
        </p:nvSpPr>
        <p:spPr>
          <a:xfrm>
            <a:off x="7532015" y="6240726"/>
            <a:ext cx="4199575" cy="338484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HTML  /  CSS  /  JavaScript  /  Python</a:t>
            </a:r>
            <a:endParaRPr kumimoji="1" lang="ko-Kore-KR" altLang="en-US" sz="16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652478-30A9-DD48-BF60-01AC02DCF526}"/>
              </a:ext>
            </a:extLst>
          </p:cNvPr>
          <p:cNvSpPr txBox="1"/>
          <p:nvPr/>
        </p:nvSpPr>
        <p:spPr>
          <a:xfrm>
            <a:off x="265234" y="5885229"/>
            <a:ext cx="7357463" cy="6462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0</a:t>
            </a:r>
            <a:r>
              <a:rPr kumimoji="1" lang="en-US" altLang="ko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</a:t>
            </a: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kumimoji="1" lang="ko-KR" altLang="en-US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타입과 값</a:t>
            </a:r>
            <a:endParaRPr kumimoji="1" lang="ko-Kore-KR" altLang="en-US" sz="3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028" name="Picture 4" descr="scrollTo">
            <a:extLst>
              <a:ext uri="{FF2B5EF4-FFF2-40B4-BE49-F238E27FC236}">
                <a16:creationId xmlns:a16="http://schemas.microsoft.com/office/drawing/2014/main" id="{A37EB5EB-873B-8D43-ADB5-67B561305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39" y="530543"/>
            <a:ext cx="12206651" cy="457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27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ko-KR" altLang="en-US" dirty="0"/>
              <a:t>타입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ore-KR" dirty="0"/>
              <a:t>1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743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타입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7896580" cy="3224210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형검사에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 따른 언어 분류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타입을 어떻게 얼마나 엄격하게 검사하는지에 따라 언어를 분류할 수 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강한 타입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strong typing) : C, C++, Go, Haskell, Java, Kotlin, Rust, Scala</a:t>
            </a:r>
            <a:br>
              <a:rPr lang="en" altLang="ko-KR" dirty="0">
                <a:solidFill>
                  <a:schemeClr val="bg1"/>
                </a:solidFill>
                <a:latin typeface="+mn-ea"/>
              </a:rPr>
            </a:br>
            <a:r>
              <a:rPr lang="en" altLang="ko-KR" dirty="0">
                <a:solidFill>
                  <a:schemeClr val="bg1"/>
                </a:solidFill>
                <a:latin typeface="+mn-ea"/>
              </a:rPr>
              <a:t>→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정적 파일 검사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타입이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올바른지에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대한 검사를 런타임 이전에 시행</a:t>
            </a:r>
            <a:br>
              <a:rPr lang="ko-KR" altLang="en-US" dirty="0">
                <a:solidFill>
                  <a:schemeClr val="bg1"/>
                </a:solidFill>
                <a:latin typeface="+mn-ea"/>
              </a:rPr>
            </a:br>
            <a:endParaRPr lang="ko-KR" altLang="en-US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약한 타입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weak typing) : </a:t>
            </a:r>
            <a:r>
              <a:rPr lang="en" altLang="ko-KR" dirty="0" err="1">
                <a:solidFill>
                  <a:schemeClr val="bg1"/>
                </a:solidFill>
                <a:latin typeface="+mn-ea"/>
              </a:rPr>
              <a:t>Javascript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, Lisp, Lua, Perl, PHP, Python, Ruby</a:t>
            </a:r>
            <a:br>
              <a:rPr lang="en" altLang="ko-KR" dirty="0">
                <a:solidFill>
                  <a:schemeClr val="bg1"/>
                </a:solidFill>
                <a:latin typeface="+mn-ea"/>
              </a:rPr>
            </a:br>
            <a:r>
              <a:rPr lang="en" altLang="ko-KR" dirty="0">
                <a:solidFill>
                  <a:schemeClr val="bg1"/>
                </a:solidFill>
                <a:latin typeface="+mn-ea"/>
              </a:rPr>
              <a:t>→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동적 파일 검사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타입이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올바른지에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대한 검사를 런타임에 실행</a:t>
            </a:r>
          </a:p>
        </p:txBody>
      </p:sp>
    </p:spTree>
    <p:extLst>
      <p:ext uri="{BB962C8B-B14F-4D97-AF65-F5344CB8AC3E}">
        <p14:creationId xmlns:p14="http://schemas.microsoft.com/office/powerpoint/2010/main" val="2562567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타입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2928874" cy="363970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자바스크립트의 타입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-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" altLang="ko-KR" dirty="0">
                <a:solidFill>
                  <a:schemeClr val="bg1"/>
                </a:solidFill>
                <a:latin typeface="+mj-ea"/>
                <a:ea typeface="+mj-ea"/>
              </a:rPr>
              <a:t>null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-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" altLang="ko-KR" dirty="0">
                <a:solidFill>
                  <a:schemeClr val="bg1"/>
                </a:solidFill>
                <a:latin typeface="+mj-ea"/>
                <a:ea typeface="+mj-ea"/>
              </a:rPr>
              <a:t>undefined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-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" altLang="ko-KR" dirty="0" err="1">
                <a:solidFill>
                  <a:schemeClr val="bg1"/>
                </a:solidFill>
                <a:latin typeface="+mj-ea"/>
                <a:ea typeface="+mj-ea"/>
              </a:rPr>
              <a:t>boolean</a:t>
            </a:r>
            <a:endParaRPr lang="en" altLang="ko-KR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-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" altLang="ko-KR" dirty="0">
                <a:solidFill>
                  <a:schemeClr val="bg1"/>
                </a:solidFill>
                <a:latin typeface="+mj-ea"/>
                <a:ea typeface="+mj-ea"/>
              </a:rPr>
              <a:t>number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-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" altLang="ko-KR" dirty="0">
                <a:solidFill>
                  <a:schemeClr val="bg1"/>
                </a:solidFill>
                <a:latin typeface="+mj-ea"/>
                <a:ea typeface="+mj-ea"/>
              </a:rPr>
              <a:t>string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-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" altLang="ko-KR" dirty="0">
                <a:solidFill>
                  <a:schemeClr val="bg1"/>
                </a:solidFill>
                <a:latin typeface="+mj-ea"/>
                <a:ea typeface="+mj-ea"/>
              </a:rPr>
              <a:t>object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-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" altLang="ko-KR" dirty="0">
                <a:solidFill>
                  <a:schemeClr val="bg1"/>
                </a:solidFill>
                <a:latin typeface="+mj-ea"/>
                <a:ea typeface="+mj-ea"/>
              </a:rPr>
              <a:t>symbol (ES6 </a:t>
            </a:r>
            <a:r>
              <a:rPr lang="ko-KR" altLang="en-US" dirty="0" err="1">
                <a:solidFill>
                  <a:schemeClr val="bg1"/>
                </a:solidFill>
                <a:latin typeface="+mj-ea"/>
                <a:ea typeface="+mj-ea"/>
              </a:rPr>
              <a:t>부터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 추가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9387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타입</a:t>
            </a:r>
            <a:endParaRPr lang="ko-Kore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72C06D8C-4235-4344-96BC-C37E27C38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322" y="890489"/>
            <a:ext cx="8520329" cy="558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326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타입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3265504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값의 타입 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변수의 타입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3222C727-F9CF-3643-BF04-3FD0A2421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82" y="1580698"/>
            <a:ext cx="93726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316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타입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3611753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없는 값 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선언되지 않은 값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4349E073-B95A-7D41-B6EE-6A8E9D0F1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32" y="1582796"/>
            <a:ext cx="7102613" cy="494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00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ko-KR" altLang="en-US" dirty="0"/>
              <a:t>값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92971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값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1043742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배열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05EC9B82-0F6D-4440-A067-18AC27132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59" y="1562918"/>
            <a:ext cx="8623300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37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값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1043742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배열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05EC9B82-0F6D-4440-A067-18AC27132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59" y="1562918"/>
            <a:ext cx="8623300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69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값</a:t>
            </a:r>
            <a:endParaRPr lang="ko-Kore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785254DC-7EDB-4345-A283-66884105C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393" y="956710"/>
            <a:ext cx="8447294" cy="560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5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값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1300223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문자열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ADE76C30-3DAD-B840-AFB5-D138053BA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11" y="1572857"/>
            <a:ext cx="10538490" cy="492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07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값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1043742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숫자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0D83D-F919-AD45-ABCB-399185FDE0C3}"/>
              </a:ext>
            </a:extLst>
          </p:cNvPr>
          <p:cNvSpPr txBox="1"/>
          <p:nvPr/>
        </p:nvSpPr>
        <p:spPr>
          <a:xfrm>
            <a:off x="1013791" y="1709530"/>
            <a:ext cx="6734403" cy="1817863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자바스크립트의 숫자 타입은 </a:t>
            </a:r>
            <a:r>
              <a:rPr lang="en" altLang="ko-KR" dirty="0">
                <a:solidFill>
                  <a:schemeClr val="bg1"/>
                </a:solidFill>
              </a:rPr>
              <a:t>number</a:t>
            </a:r>
            <a:r>
              <a:rPr lang="ko-KR" altLang="en-US" dirty="0">
                <a:solidFill>
                  <a:schemeClr val="bg1"/>
                </a:solidFill>
              </a:rPr>
              <a:t>가 유일하다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대부분은 숫자는 </a:t>
            </a:r>
            <a:r>
              <a:rPr lang="en-US" altLang="ko-KR" dirty="0">
                <a:solidFill>
                  <a:schemeClr val="bg1"/>
                </a:solidFill>
              </a:rPr>
              <a:t>10</a:t>
            </a:r>
            <a:r>
              <a:rPr lang="ko-KR" altLang="en-US" dirty="0">
                <a:solidFill>
                  <a:schemeClr val="bg1"/>
                </a:solidFill>
              </a:rPr>
              <a:t>진수가 디폴트이며 소수점 이하 </a:t>
            </a:r>
            <a:r>
              <a:rPr lang="en-US" altLang="ko-KR" dirty="0">
                <a:solidFill>
                  <a:schemeClr val="bg1"/>
                </a:solidFill>
              </a:rPr>
              <a:t>0</a:t>
            </a:r>
            <a:r>
              <a:rPr lang="ko-KR" altLang="en-US" dirty="0">
                <a:solidFill>
                  <a:schemeClr val="bg1"/>
                </a:solidFill>
              </a:rPr>
              <a:t>은 생략된다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아주 크거나 아주 작은 숫자는 </a:t>
            </a:r>
            <a:r>
              <a:rPr lang="ko-KR" altLang="en-US" dirty="0" err="1">
                <a:solidFill>
                  <a:schemeClr val="bg1"/>
                </a:solidFill>
              </a:rPr>
              <a:t>지수형으로</a:t>
            </a:r>
            <a:r>
              <a:rPr lang="ko-KR" altLang="en-US" dirty="0">
                <a:solidFill>
                  <a:schemeClr val="bg1"/>
                </a:solidFill>
              </a:rPr>
              <a:t> 표시한다</a:t>
            </a:r>
          </a:p>
          <a:p>
            <a:pPr algn="l" defTabSz="912813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endParaRPr kumimoji="1" lang="ko-KR" altLang="en-US" sz="20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205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값</a:t>
            </a:r>
            <a:endParaRPr lang="ko-Kore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A97A4B95-6A27-984D-87BA-91D5E39E5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83" y="1171713"/>
            <a:ext cx="10883900" cy="2387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5D30DC-38C8-E843-AC4A-1DEFD6D4E6AE}"/>
              </a:ext>
            </a:extLst>
          </p:cNvPr>
          <p:cNvSpPr txBox="1"/>
          <p:nvPr/>
        </p:nvSpPr>
        <p:spPr>
          <a:xfrm>
            <a:off x="816041" y="4173337"/>
            <a:ext cx="9247911" cy="1700716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컴퓨터로 숫자를 표현하는 데에는 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한계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가 있고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2. 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10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진수로 표현되는 소수를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진수로 표현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하려면 몇몇의 경우 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무한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소수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가 발생하는데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3. 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무한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수를 유한하게 표현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하려다 보니 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미세한 값들이 초과되거나 손실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되어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4. 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계산 오류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가 일어난다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04739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값</a:t>
            </a:r>
            <a:endParaRPr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2819F-244B-1544-A1FE-89FFB1D4C292}"/>
              </a:ext>
            </a:extLst>
          </p:cNvPr>
          <p:cNvSpPr txBox="1"/>
          <p:nvPr/>
        </p:nvSpPr>
        <p:spPr>
          <a:xfrm>
            <a:off x="954787" y="2874343"/>
            <a:ext cx="10282425" cy="584705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" altLang="ko-KR" sz="32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console.log</a:t>
            </a:r>
            <a:r>
              <a:rPr kumimoji="1" lang="en" altLang="ko-KR" sz="3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(Number((0.1+0.2).</a:t>
            </a:r>
            <a:r>
              <a:rPr kumimoji="1" lang="en" altLang="ko-KR" sz="32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toFixed</a:t>
            </a:r>
            <a:r>
              <a:rPr kumimoji="1" lang="en" altLang="ko-KR" sz="3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(1)) === 0.3);</a:t>
            </a:r>
            <a:endParaRPr kumimoji="1" lang="ko-KR" altLang="en-US" sz="32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748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값</a:t>
            </a:r>
            <a:endParaRPr lang="ko-Kore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A4A65D9E-BFBE-0B4E-B5C2-0EA5958D7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53" y="876034"/>
            <a:ext cx="8610600" cy="335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578709-797E-7047-9BB0-822C1F77F428}"/>
              </a:ext>
            </a:extLst>
          </p:cNvPr>
          <p:cNvSpPr txBox="1"/>
          <p:nvPr/>
        </p:nvSpPr>
        <p:spPr>
          <a:xfrm>
            <a:off x="1129827" y="4550876"/>
            <a:ext cx="8401719" cy="1431090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 dirty="0">
                <a:solidFill>
                  <a:schemeClr val="bg1"/>
                </a:solidFill>
              </a:rPr>
              <a:t>숫자는 내부적으로 </a:t>
            </a:r>
            <a:r>
              <a:rPr lang="en-US" altLang="ko-KR" dirty="0">
                <a:solidFill>
                  <a:schemeClr val="bg1"/>
                </a:solidFill>
              </a:rPr>
              <a:t>64</a:t>
            </a:r>
            <a:r>
              <a:rPr lang="ko-KR" altLang="en-US" dirty="0">
                <a:solidFill>
                  <a:schemeClr val="bg1"/>
                </a:solidFill>
              </a:rPr>
              <a:t>비트 형식 </a:t>
            </a:r>
            <a:r>
              <a:rPr lang="en" altLang="ko-KR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IEEE-754</a:t>
            </a:r>
            <a:r>
              <a:rPr lang="ko-KR" altLang="en-US" dirty="0" err="1">
                <a:solidFill>
                  <a:schemeClr val="bg1"/>
                </a:solidFill>
              </a:rPr>
              <a:t>으로</a:t>
            </a:r>
            <a:r>
              <a:rPr lang="ko-KR" altLang="en-US" dirty="0">
                <a:solidFill>
                  <a:schemeClr val="bg1"/>
                </a:solidFill>
              </a:rPr>
              <a:t> 표현되기 때문에 숫자를 저장하려면 </a:t>
            </a:r>
            <a:endParaRPr lang="en-US" altLang="ko-KR" dirty="0">
              <a:solidFill>
                <a:schemeClr val="bg1"/>
              </a:solidFill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 dirty="0">
                <a:solidFill>
                  <a:schemeClr val="bg1"/>
                </a:solidFill>
              </a:rPr>
              <a:t>정확히 </a:t>
            </a:r>
            <a:r>
              <a:rPr lang="en-US" altLang="ko-KR" dirty="0">
                <a:solidFill>
                  <a:schemeClr val="bg1"/>
                </a:solidFill>
              </a:rPr>
              <a:t>64</a:t>
            </a:r>
            <a:r>
              <a:rPr lang="ko-KR" altLang="en-US" dirty="0">
                <a:solidFill>
                  <a:schemeClr val="bg1"/>
                </a:solidFill>
              </a:rPr>
              <a:t>비트가 필요하다</a:t>
            </a:r>
            <a:r>
              <a:rPr lang="en-US" altLang="ko-KR" dirty="0">
                <a:solidFill>
                  <a:schemeClr val="bg1"/>
                </a:solidFill>
              </a:rPr>
              <a:t>. 64</a:t>
            </a:r>
            <a:r>
              <a:rPr lang="ko-KR" altLang="en-US" dirty="0">
                <a:solidFill>
                  <a:schemeClr val="bg1"/>
                </a:solidFill>
              </a:rPr>
              <a:t>비트 중 </a:t>
            </a:r>
            <a:r>
              <a:rPr lang="en-US" altLang="ko-KR" dirty="0">
                <a:solidFill>
                  <a:schemeClr val="accent1"/>
                </a:solidFill>
              </a:rPr>
              <a:t>52</a:t>
            </a:r>
            <a:r>
              <a:rPr lang="ko-KR" altLang="en-US" dirty="0">
                <a:solidFill>
                  <a:schemeClr val="accent1"/>
                </a:solidFill>
              </a:rPr>
              <a:t>비트는 숫자를 저장</a:t>
            </a:r>
            <a:r>
              <a:rPr lang="ko-KR" altLang="en-US" dirty="0">
                <a:solidFill>
                  <a:schemeClr val="bg1"/>
                </a:solidFill>
              </a:rPr>
              <a:t>하는 데 사용되고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lang="en-US" altLang="ko-KR" dirty="0">
                <a:solidFill>
                  <a:schemeClr val="bg1"/>
                </a:solidFill>
              </a:rPr>
              <a:t>11</a:t>
            </a:r>
            <a:r>
              <a:rPr lang="ko-KR" altLang="en-US" dirty="0">
                <a:solidFill>
                  <a:schemeClr val="bg1"/>
                </a:solidFill>
              </a:rPr>
              <a:t>비트는 소수점 위치를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정수는 </a:t>
            </a:r>
            <a:r>
              <a:rPr lang="en-US" altLang="ko-KR" dirty="0">
                <a:solidFill>
                  <a:schemeClr val="bg1"/>
                </a:solidFill>
              </a:rPr>
              <a:t>0), 1</a:t>
            </a:r>
            <a:r>
              <a:rPr lang="ko-KR" altLang="en-US" dirty="0">
                <a:solidFill>
                  <a:schemeClr val="bg1"/>
                </a:solidFill>
              </a:rPr>
              <a:t>비트는 부호를 저장하는 데 사용된다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 dirty="0">
                <a:solidFill>
                  <a:schemeClr val="bg1"/>
                </a:solidFill>
              </a:rPr>
              <a:t>그런데 너무 큰 수는 표현하는 데 </a:t>
            </a:r>
            <a:r>
              <a:rPr lang="en-US" altLang="ko-KR" dirty="0">
                <a:solidFill>
                  <a:schemeClr val="bg1"/>
                </a:solidFill>
              </a:rPr>
              <a:t>64</a:t>
            </a:r>
            <a:r>
              <a:rPr lang="ko-KR" altLang="en-US" dirty="0">
                <a:solidFill>
                  <a:schemeClr val="bg1"/>
                </a:solidFill>
              </a:rPr>
              <a:t>비트를 초과하기 때문에 </a:t>
            </a:r>
            <a:r>
              <a:rPr lang="en" altLang="ko-KR" dirty="0">
                <a:solidFill>
                  <a:schemeClr val="bg1"/>
                </a:solidFill>
              </a:rPr>
              <a:t>Infinity</a:t>
            </a:r>
            <a:r>
              <a:rPr lang="ko-KR" altLang="en-US" dirty="0">
                <a:solidFill>
                  <a:schemeClr val="bg1"/>
                </a:solidFill>
              </a:rPr>
              <a:t>로 처리 된다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kumimoji="1" lang="ko-KR" altLang="en-US" sz="20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54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값</a:t>
            </a:r>
            <a:endParaRPr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E327D4-5236-C944-B95F-9D5C9681E90F}"/>
              </a:ext>
            </a:extLst>
          </p:cNvPr>
          <p:cNvSpPr txBox="1"/>
          <p:nvPr/>
        </p:nvSpPr>
        <p:spPr>
          <a:xfrm>
            <a:off x="647272" y="1910993"/>
            <a:ext cx="11177927" cy="52314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" altLang="ko-KR" sz="28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console.log</a:t>
            </a:r>
            <a:r>
              <a:rPr kumimoji="1" lang="en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((9007199254740995 + 2) === 9007199254740997 )</a:t>
            </a:r>
            <a:endParaRPr kumimoji="1" lang="ko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03A73E-37CF-B74A-8859-E150BFFCFF20}"/>
              </a:ext>
            </a:extLst>
          </p:cNvPr>
          <p:cNvSpPr txBox="1"/>
          <p:nvPr/>
        </p:nvSpPr>
        <p:spPr>
          <a:xfrm>
            <a:off x="657366" y="2697532"/>
            <a:ext cx="11177927" cy="52314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" altLang="ko-KR" sz="28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console.log</a:t>
            </a:r>
            <a:r>
              <a:rPr kumimoji="1" lang="en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((9007199254740990 + 2) === 9007199254740992 )</a:t>
            </a:r>
            <a:endParaRPr kumimoji="1" lang="ko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911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값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1556703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j-ea"/>
                <a:ea typeface="+mj-ea"/>
                <a:cs typeface="Arial" panose="020B0604020202020204" pitchFamily="34" charset="0"/>
              </a:rPr>
              <a:t>레퍼런스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7CFE7909-CA05-BC40-A7A0-3BF3A1F52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427" y="1685511"/>
            <a:ext cx="89154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13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91374" tIns="45685" rIns="91374" bIns="45685">
        <a:spAutoFit/>
      </a:bodyPr>
      <a:lstStyle>
        <a:defPPr algn="l" defTabSz="912813" fontAlgn="base">
          <a:spcBef>
            <a:spcPts val="600"/>
          </a:spcBef>
          <a:spcAft>
            <a:spcPct val="0"/>
          </a:spcAft>
          <a:defRPr kumimoji="1" sz="2000" b="1" dirty="0" err="1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rgbClr val="4B465E"/>
            </a:solidFill>
            <a:latin typeface="맑은 고딕" pitchFamily="50" charset="-127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345</Words>
  <Application>Microsoft Macintosh PowerPoint</Application>
  <PresentationFormat>와이드스크린</PresentationFormat>
  <Paragraphs>89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批量名称</dc:creator>
  <cp:lastModifiedBy>批量名称</cp:lastModifiedBy>
  <cp:revision>154</cp:revision>
  <dcterms:created xsi:type="dcterms:W3CDTF">2020-12-17T04:08:04Z</dcterms:created>
  <dcterms:modified xsi:type="dcterms:W3CDTF">2021-04-12T07:57:41Z</dcterms:modified>
</cp:coreProperties>
</file>