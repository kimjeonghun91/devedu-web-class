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59" r:id="rId1"/>
  </p:sldMasterIdLst>
  <p:notesMasterIdLst>
    <p:notesMasterId r:id="rId19"/>
  </p:notesMasterIdLst>
  <p:sldIdLst>
    <p:sldId id="266" r:id="rId2"/>
    <p:sldId id="316" r:id="rId3"/>
    <p:sldId id="317" r:id="rId4"/>
    <p:sldId id="321" r:id="rId5"/>
    <p:sldId id="322" r:id="rId6"/>
    <p:sldId id="323" r:id="rId7"/>
    <p:sldId id="319" r:id="rId8"/>
    <p:sldId id="324" r:id="rId9"/>
    <p:sldId id="320" r:id="rId10"/>
    <p:sldId id="325" r:id="rId11"/>
    <p:sldId id="326" r:id="rId12"/>
    <p:sldId id="327" r:id="rId13"/>
    <p:sldId id="328" r:id="rId14"/>
    <p:sldId id="329" r:id="rId15"/>
    <p:sldId id="330" r:id="rId16"/>
    <p:sldId id="331" r:id="rId17"/>
    <p:sldId id="332" r:id="rId18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  <a:srgbClr val="54CF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95"/>
    <p:restoredTop sz="76127"/>
  </p:normalViewPr>
  <p:slideViewPr>
    <p:cSldViewPr snapToGrid="0" snapToObjects="1">
      <p:cViewPr varScale="1">
        <p:scale>
          <a:sx n="92" d="100"/>
          <a:sy n="92" d="100"/>
        </p:scale>
        <p:origin x="16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9" d="100"/>
          <a:sy n="119" d="100"/>
        </p:scale>
        <p:origin x="392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B2E54-8ADE-1C42-B7E1-8C04B8CD0931}" type="datetimeFigureOut">
              <a:rPr kumimoji="1" lang="ko-Kore-KR" altLang="en-US" smtClean="0"/>
              <a:t>7/7/21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A6CA5-1AB8-7840-86E1-8A38211DD31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7166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12416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85478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218753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8072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23835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5553396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537752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981212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59968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432737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640762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335059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383594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879580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76614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16391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목차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8" name="다이아몬드 7">
            <a:extLst>
              <a:ext uri="{FF2B5EF4-FFF2-40B4-BE49-F238E27FC236}">
                <a16:creationId xmlns:a16="http://schemas.microsoft.com/office/drawing/2014/main" id="{A11D6FC2-3699-114E-A2F5-2DF05DA32C3B}"/>
              </a:ext>
            </a:extLst>
          </p:cNvPr>
          <p:cNvSpPr/>
          <p:nvPr userDrawn="1"/>
        </p:nvSpPr>
        <p:spPr>
          <a:xfrm>
            <a:off x="445064" y="1507744"/>
            <a:ext cx="564022" cy="564022"/>
          </a:xfrm>
          <a:prstGeom prst="diamond">
            <a:avLst/>
          </a:prstGeom>
          <a:solidFill>
            <a:srgbClr val="55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03838A-BE2E-8E43-B618-8D65C885101B}"/>
              </a:ext>
            </a:extLst>
          </p:cNvPr>
          <p:cNvSpPr txBox="1"/>
          <p:nvPr userDrawn="1"/>
        </p:nvSpPr>
        <p:spPr>
          <a:xfrm>
            <a:off x="667133" y="1548617"/>
            <a:ext cx="1284642" cy="523149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ko-KR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INDEX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B78544-F529-9243-9639-1427C2074D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7723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34C11287-0330-9147-8C4E-97969ED1571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297800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4DD148-E2F3-6F43-A830-B1DF9707D5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45679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A3EE9B3-6AC5-F94F-8261-F1619ABEB16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373347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28" name="내용 개체 틀 2">
            <a:extLst>
              <a:ext uri="{FF2B5EF4-FFF2-40B4-BE49-F238E27FC236}">
                <a16:creationId xmlns:a16="http://schemas.microsoft.com/office/drawing/2014/main" id="{479462A3-7C4E-9243-902A-129F0F8368E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33424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0" name="텍스트 개체 틀 4">
            <a:extLst>
              <a:ext uri="{FF2B5EF4-FFF2-40B4-BE49-F238E27FC236}">
                <a16:creationId xmlns:a16="http://schemas.microsoft.com/office/drawing/2014/main" id="{955026BC-E4E9-4E4C-A8FA-AA998F48E9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81303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31" name="내용 개체 틀 2">
            <a:extLst>
              <a:ext uri="{FF2B5EF4-FFF2-40B4-BE49-F238E27FC236}">
                <a16:creationId xmlns:a16="http://schemas.microsoft.com/office/drawing/2014/main" id="{37D67461-D793-1544-B693-992F84F737A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883465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33" name="내용 개체 틀 2">
            <a:extLst>
              <a:ext uri="{FF2B5EF4-FFF2-40B4-BE49-F238E27FC236}">
                <a16:creationId xmlns:a16="http://schemas.microsoft.com/office/drawing/2014/main" id="{5954E74E-5CB1-174E-8154-A3FD85F60F77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443542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F6C9143E-F40A-FD4B-9B91-87D3A44965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91421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35" name="내용 개체 틀 2">
            <a:extLst>
              <a:ext uri="{FF2B5EF4-FFF2-40B4-BE49-F238E27FC236}">
                <a16:creationId xmlns:a16="http://schemas.microsoft.com/office/drawing/2014/main" id="{112B5D26-A0CE-9341-8145-20A60E6965D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393583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36" name="내용 개체 틀 2">
            <a:extLst>
              <a:ext uri="{FF2B5EF4-FFF2-40B4-BE49-F238E27FC236}">
                <a16:creationId xmlns:a16="http://schemas.microsoft.com/office/drawing/2014/main" id="{94B07A4E-FE2B-E84D-AE7D-6887DCE53F99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953660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7" name="텍스트 개체 틀 4">
            <a:extLst>
              <a:ext uri="{FF2B5EF4-FFF2-40B4-BE49-F238E27FC236}">
                <a16:creationId xmlns:a16="http://schemas.microsoft.com/office/drawing/2014/main" id="{7F9D5FEC-DBD4-9B47-A8A2-76906CE8BB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01539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622927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제목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8" name="내용 개체 틀 17">
            <a:extLst>
              <a:ext uri="{FF2B5EF4-FFF2-40B4-BE49-F238E27FC236}">
                <a16:creationId xmlns:a16="http://schemas.microsoft.com/office/drawing/2014/main" id="{11EB12BD-423E-D942-AA60-48E193A3A9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26392" y="3460960"/>
            <a:ext cx="7042151" cy="535531"/>
          </a:xfrm>
        </p:spPr>
        <p:txBody>
          <a:bodyPr wrap="square" anchor="ctr" anchorCtr="0">
            <a:spAutoFit/>
          </a:bodyPr>
          <a:lstStyle>
            <a:lvl1pPr>
              <a:buNone/>
              <a:defRPr sz="3200" b="1"/>
            </a:lvl1pPr>
          </a:lstStyle>
          <a:p>
            <a:pPr lvl="0"/>
            <a:r>
              <a:rPr kumimoji="1" lang="ko-KR" altLang="en-US" dirty="0"/>
              <a:t>마스터 텍스트</a:t>
            </a:r>
            <a:endParaRPr kumimoji="1" lang="ko-Kore-KR" altLang="en-US" dirty="0"/>
          </a:p>
        </p:txBody>
      </p:sp>
      <p:sp>
        <p:nvSpPr>
          <p:cNvPr id="24" name="내용 개체 틀 23">
            <a:extLst>
              <a:ext uri="{FF2B5EF4-FFF2-40B4-BE49-F238E27FC236}">
                <a16:creationId xmlns:a16="http://schemas.microsoft.com/office/drawing/2014/main" id="{F23B5EBD-C357-6E46-AC78-8CC3CDDA81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135357" y="4052353"/>
            <a:ext cx="7042151" cy="286232"/>
          </a:xfrm>
        </p:spPr>
        <p:txBody>
          <a:bodyPr anchor="ctr" anchorCtr="0">
            <a:spAutoFit/>
          </a:bodyPr>
          <a:lstStyle>
            <a:lvl1pPr>
              <a:buNone/>
              <a:defRPr sz="1400"/>
            </a:lvl1pPr>
          </a:lstStyle>
          <a:p>
            <a:pPr lvl="0"/>
            <a:r>
              <a:rPr kumimoji="1" lang="ko-KR" altLang="en-US" dirty="0"/>
              <a:t>서브 타이틀이 들어가는 자리</a:t>
            </a:r>
            <a:endParaRPr kumimoji="1" lang="ko-Kore-KR" altLang="en-US" dirty="0"/>
          </a:p>
        </p:txBody>
      </p:sp>
      <p:sp>
        <p:nvSpPr>
          <p:cNvPr id="28" name="내용 개체 틀 27">
            <a:extLst>
              <a:ext uri="{FF2B5EF4-FFF2-40B4-BE49-F238E27FC236}">
                <a16:creationId xmlns:a16="http://schemas.microsoft.com/office/drawing/2014/main" id="{E0BAA295-AF35-8640-9328-4A9C9801DDD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5839" y="2192410"/>
            <a:ext cx="1250576" cy="2723823"/>
          </a:xfrm>
        </p:spPr>
        <p:txBody>
          <a:bodyPr wrap="square" anchor="ctr" anchorCtr="0">
            <a:spAutoFit/>
          </a:bodyPr>
          <a:lstStyle>
            <a:lvl1pPr>
              <a:buNone/>
              <a:defRPr sz="19000" b="1">
                <a:solidFill>
                  <a:srgbClr val="54CFD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77039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본문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7" name="다이아몬드 6">
            <a:extLst>
              <a:ext uri="{FF2B5EF4-FFF2-40B4-BE49-F238E27FC236}">
                <a16:creationId xmlns:a16="http://schemas.microsoft.com/office/drawing/2014/main" id="{7C1A53BE-79A1-1443-B395-F66226A9E860}"/>
              </a:ext>
            </a:extLst>
          </p:cNvPr>
          <p:cNvSpPr/>
          <p:nvPr userDrawn="1"/>
        </p:nvSpPr>
        <p:spPr>
          <a:xfrm>
            <a:off x="521264" y="389103"/>
            <a:ext cx="564022" cy="564022"/>
          </a:xfrm>
          <a:prstGeom prst="diamond">
            <a:avLst/>
          </a:prstGeom>
          <a:solidFill>
            <a:srgbClr val="54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n>
                <a:noFill/>
              </a:ln>
            </a:endParaRPr>
          </a:p>
        </p:txBody>
      </p:sp>
      <p:sp>
        <p:nvSpPr>
          <p:cNvPr id="21" name="내용 개체 틀 20">
            <a:extLst>
              <a:ext uri="{FF2B5EF4-FFF2-40B4-BE49-F238E27FC236}">
                <a16:creationId xmlns:a16="http://schemas.microsoft.com/office/drawing/2014/main" id="{5CF5FC27-752C-4740-B570-7C440F0BF4F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3783" y="451302"/>
            <a:ext cx="564021" cy="424732"/>
          </a:xfrm>
        </p:spPr>
        <p:txBody>
          <a:bodyPr wrap="square" anchor="ctr" anchorCtr="0">
            <a:spAutoFit/>
          </a:bodyPr>
          <a:lstStyle>
            <a:lvl1pPr>
              <a:buNone/>
              <a:defRPr sz="2400"/>
            </a:lvl1pPr>
          </a:lstStyle>
          <a:p>
            <a:pPr lvl="0"/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23" name="내용 개체 틀 22">
            <a:extLst>
              <a:ext uri="{FF2B5EF4-FFF2-40B4-BE49-F238E27FC236}">
                <a16:creationId xmlns:a16="http://schemas.microsoft.com/office/drawing/2014/main" id="{9CBA9637-4268-E34F-A033-852CEB4858C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70323" y="492852"/>
            <a:ext cx="7507512" cy="341632"/>
          </a:xfrm>
        </p:spPr>
        <p:txBody>
          <a:bodyPr wrap="square" anchor="ctr" anchorCtr="0">
            <a:spAutoFit/>
          </a:bodyPr>
          <a:lstStyle>
            <a:lvl1pPr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내용을</a:t>
            </a:r>
            <a:r>
              <a:rPr kumimoji="1" lang="ko-KR" altLang="en-US" dirty="0"/>
              <a:t> 입력해주세요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062323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빈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A817A0-D2DA-6D49-A1AD-BB38A5F3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630354D-EFF4-C740-B05B-ABA164468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CAB323-1000-AE42-8899-8B66CED31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40F8D6-EDB5-6642-890A-B46EEAB9F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71616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99B43E-A874-4A44-9D5F-415AF7444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0DB9CB-970A-4D4C-A927-880A96612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E738FC-4C5D-4142-8C3F-84800D8651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42D97F-9D10-D045-890B-2F59FC1AF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657B2E-769E-374D-B908-27DE43920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4719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8" r:id="rId1"/>
    <p:sldLayoutId id="2147484260" r:id="rId2"/>
    <p:sldLayoutId id="2147484267" r:id="rId3"/>
    <p:sldLayoutId id="2147484269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F9C26C8-649C-D542-BAA7-BFA1E0C99AFE}"/>
              </a:ext>
            </a:extLst>
          </p:cNvPr>
          <p:cNvSpPr/>
          <p:nvPr/>
        </p:nvSpPr>
        <p:spPr>
          <a:xfrm>
            <a:off x="0" y="5715000"/>
            <a:ext cx="12192000" cy="970534"/>
          </a:xfrm>
          <a:prstGeom prst="rect">
            <a:avLst/>
          </a:prstGeom>
          <a:solidFill>
            <a:srgbClr val="54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FE8520-2EC0-DB4D-910F-FBCAECEE6417}"/>
              </a:ext>
            </a:extLst>
          </p:cNvPr>
          <p:cNvSpPr txBox="1"/>
          <p:nvPr/>
        </p:nvSpPr>
        <p:spPr>
          <a:xfrm>
            <a:off x="7816906" y="5804308"/>
            <a:ext cx="3938960" cy="523149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r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WEB </a:t>
            </a:r>
            <a:r>
              <a:rPr kumimoji="1" lang="ko-KR" altLang="en-US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개발 기초 과정</a:t>
            </a:r>
            <a:endParaRPr kumimoji="1" lang="ko-Kore-KR" altLang="en-US" sz="28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AAB4F-A5D2-6149-8851-416CBF5FD9F3}"/>
              </a:ext>
            </a:extLst>
          </p:cNvPr>
          <p:cNvSpPr txBox="1"/>
          <p:nvPr/>
        </p:nvSpPr>
        <p:spPr>
          <a:xfrm>
            <a:off x="7532015" y="6240726"/>
            <a:ext cx="4199575" cy="338484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r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16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HTML  /  CSS  /  JavaScript  /  Python</a:t>
            </a:r>
            <a:endParaRPr kumimoji="1" lang="ko-Kore-KR" altLang="en-US" sz="1600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652478-30A9-DD48-BF60-01AC02DCF526}"/>
              </a:ext>
            </a:extLst>
          </p:cNvPr>
          <p:cNvSpPr txBox="1"/>
          <p:nvPr/>
        </p:nvSpPr>
        <p:spPr>
          <a:xfrm>
            <a:off x="265234" y="5885229"/>
            <a:ext cx="7357463" cy="646260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0</a:t>
            </a:r>
            <a:r>
              <a:rPr kumimoji="1" lang="en-US" altLang="ko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8</a:t>
            </a:r>
            <a:r>
              <a:rPr kumimoji="1" lang="en-US" altLang="ko-Kore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.</a:t>
            </a:r>
            <a:r>
              <a:rPr kumimoji="1" lang="ko-KR" altLang="en-US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kumimoji="1" lang="en-US" altLang="ko-KR" sz="3600" b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Storage &amp; JSON</a:t>
            </a:r>
            <a:endParaRPr kumimoji="1" lang="ko-Kore-KR" altLang="en-US" sz="36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1028" name="Picture 4" descr="scrollTo">
            <a:extLst>
              <a:ext uri="{FF2B5EF4-FFF2-40B4-BE49-F238E27FC236}">
                <a16:creationId xmlns:a16="http://schemas.microsoft.com/office/drawing/2014/main" id="{A37EB5EB-873B-8D43-ADB5-67B561305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39" y="530543"/>
            <a:ext cx="12206651" cy="4577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0273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AA7D45-296B-5F4A-B4C7-7EA45472CD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94024" y="3460960"/>
            <a:ext cx="7042151" cy="535531"/>
          </a:xfrm>
        </p:spPr>
        <p:txBody>
          <a:bodyPr/>
          <a:lstStyle/>
          <a:p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Web Storage</a:t>
            </a:r>
            <a:r>
              <a:rPr lang="ko-KR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&amp; Cookie</a:t>
            </a:r>
            <a:endParaRPr lang="ko-Kore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E95281-7B3F-3943-A8CD-F4D72E7B544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endParaRPr lang="ko-Kore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1BEDE63-39BD-CC40-B540-B0964416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97687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" altLang="ko-KR" dirty="0"/>
              <a:t>Cookie</a:t>
            </a:r>
            <a:endParaRPr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636E0-F83F-AC4F-A4DB-67A55A933E06}"/>
              </a:ext>
            </a:extLst>
          </p:cNvPr>
          <p:cNvSpPr txBox="1"/>
          <p:nvPr/>
        </p:nvSpPr>
        <p:spPr>
          <a:xfrm>
            <a:off x="685799" y="1135171"/>
            <a:ext cx="10846106" cy="3639708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Cookie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브라우저에서 서버로 요청을 보낼 때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서버는 요청 자체만으로는 그 요청이 누구에게서 오는지 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알 수 없습니다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쿠키에 나에 대한 정보를 담아서 서버로 보내면 서버는 쿠키를 읽어서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클라이언트를 파악합니다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쿠키는 처음부터 서버와 클라이언트 간의 지속적인 데이터 교환을 위해 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만들어졌기 때문에 서버로 계속 전송됩니다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이 때문에 불필요한 데이터가 서버로 전송될 수 있고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,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쿠키는 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4kb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로 용량 제한이 있기 때문에 저장할 수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있는 데이터가 제한되기도 합니다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0392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3783" y="451302"/>
            <a:ext cx="564021" cy="424732"/>
          </a:xfrm>
        </p:spPr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" altLang="ko-KR" dirty="0"/>
              <a:t>Cookie</a:t>
            </a:r>
            <a:endParaRPr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636E0-F83F-AC4F-A4DB-67A55A933E06}"/>
              </a:ext>
            </a:extLst>
          </p:cNvPr>
          <p:cNvSpPr txBox="1"/>
          <p:nvPr/>
        </p:nvSpPr>
        <p:spPr>
          <a:xfrm>
            <a:off x="685799" y="1135171"/>
            <a:ext cx="8749378" cy="1285218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document.cookie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는 </a:t>
            </a:r>
            <a:r>
              <a:rPr lang="en-US" altLang="ko-KR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name=value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쌍으로 구성되어있고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각 쌍은</a:t>
            </a:r>
            <a:r>
              <a:rPr lang="ko-KR" altLang="en-US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 </a:t>
            </a:r>
            <a:r>
              <a:rPr lang="en-US" altLang="ko-KR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;</a:t>
            </a:r>
            <a:r>
              <a:rPr lang="ko-KR" altLang="en-US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로 구분합니다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이때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쌍 하나는 하나의 독립된 쿠키를 나타냅니다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 </a:t>
            </a:r>
            <a:r>
              <a:rPr lang="en-US" altLang="ko-KR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;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을 기준으로 </a:t>
            </a:r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document.cookie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의 값을 분리하면 원하는 쿠키를 찾을 수 있습니다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 </a:t>
            </a:r>
          </a:p>
        </p:txBody>
      </p:sp>
      <p:pic>
        <p:nvPicPr>
          <p:cNvPr id="6" name="그림 5" descr="텍스트, 스크린샷, 모니터, 여러개이(가) 표시된 사진&#10;&#10;자동 생성된 설명">
            <a:extLst>
              <a:ext uri="{FF2B5EF4-FFF2-40B4-BE49-F238E27FC236}">
                <a16:creationId xmlns:a16="http://schemas.microsoft.com/office/drawing/2014/main" id="{02BAD943-B1FD-2D42-A720-922239032C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394"/>
          <a:stretch/>
        </p:blipFill>
        <p:spPr>
          <a:xfrm>
            <a:off x="685799" y="2721076"/>
            <a:ext cx="11163300" cy="352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696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" altLang="ko-KR" dirty="0"/>
              <a:t>Cookie</a:t>
            </a:r>
            <a:endParaRPr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636E0-F83F-AC4F-A4DB-67A55A933E06}"/>
              </a:ext>
            </a:extLst>
          </p:cNvPr>
          <p:cNvSpPr txBox="1"/>
          <p:nvPr/>
        </p:nvSpPr>
        <p:spPr>
          <a:xfrm>
            <a:off x="685799" y="1135171"/>
            <a:ext cx="9129289" cy="1285218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document.cookie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에 직접 값을 쓸 수 있습니다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document.cookie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에 값을 할당하면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브라우저는 이 값을 받아 해당 쿠키를 갱신합니다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이때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다른 쿠키의 값은 </a:t>
            </a:r>
            <a:r>
              <a:rPr lang="ko-KR" altLang="en-US">
                <a:solidFill>
                  <a:schemeClr val="bg1"/>
                </a:solidFill>
                <a:latin typeface="+mn-ea"/>
              </a:rPr>
              <a:t>변경되지 않습니다</a:t>
            </a:r>
            <a:r>
              <a:rPr lang="en-US" altLang="ko-KR">
                <a:solidFill>
                  <a:schemeClr val="bg1"/>
                </a:solidFill>
                <a:latin typeface="+mn-ea"/>
              </a:rPr>
              <a:t>. 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7" name="그림 6" descr="텍스트, 스크린샷, 검은색, 화면이(가) 표시된 사진&#10;&#10;자동 생성된 설명">
            <a:extLst>
              <a:ext uri="{FF2B5EF4-FFF2-40B4-BE49-F238E27FC236}">
                <a16:creationId xmlns:a16="http://schemas.microsoft.com/office/drawing/2014/main" id="{B98737D5-6FCF-8B42-B2C1-1F8CB5478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2679526"/>
            <a:ext cx="6553200" cy="2844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780227-F3A2-5B42-852A-558B9B9B73AC}"/>
              </a:ext>
            </a:extLst>
          </p:cNvPr>
          <p:cNvSpPr txBox="1"/>
          <p:nvPr/>
        </p:nvSpPr>
        <p:spPr>
          <a:xfrm>
            <a:off x="8276766" y="6195906"/>
            <a:ext cx="3915234" cy="338484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sz="1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출처 </a:t>
            </a:r>
            <a:r>
              <a:rPr kumimoji="1" lang="en-US" altLang="ko-KR" sz="1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:</a:t>
            </a:r>
            <a:r>
              <a:rPr kumimoji="1" lang="ko-KR" altLang="en-US" sz="1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 </a:t>
            </a:r>
            <a:r>
              <a:rPr kumimoji="1" lang="en" altLang="ko-KR" sz="1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https://</a:t>
            </a:r>
            <a:r>
              <a:rPr kumimoji="1" lang="en" altLang="ko-KR" sz="16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ko.javascript.info</a:t>
            </a:r>
            <a:r>
              <a:rPr kumimoji="1" lang="en" altLang="ko-KR" sz="1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/cookie</a:t>
            </a:r>
            <a:endParaRPr kumimoji="1" lang="ko-KR" altLang="en-US" sz="16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943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" altLang="ko-KR" dirty="0"/>
              <a:t>Cookie</a:t>
            </a:r>
            <a:endParaRPr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636E0-F83F-AC4F-A4DB-67A55A933E06}"/>
              </a:ext>
            </a:extLst>
          </p:cNvPr>
          <p:cNvSpPr txBox="1"/>
          <p:nvPr/>
        </p:nvSpPr>
        <p:spPr>
          <a:xfrm>
            <a:off x="685799" y="1135171"/>
            <a:ext cx="10927858" cy="86971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ko-KR" dirty="0">
                <a:solidFill>
                  <a:schemeClr val="bg1"/>
                </a:solidFill>
                <a:latin typeface="+mn-ea"/>
              </a:rPr>
              <a:t>expires(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유효 일자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나 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max-age(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만료 기간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)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옵션이 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지정되어있지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않으면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브라우저가 닫힐 때 쿠키도 함께 삭제됩니다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이런 쿠키를 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"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세션 쿠키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(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session cookie)"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라고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부릅니다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A4E80F2-97D7-ED4D-80EA-EDA94822E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364" y="3971056"/>
            <a:ext cx="7010400" cy="1892300"/>
          </a:xfrm>
          <a:prstGeom prst="rect">
            <a:avLst/>
          </a:prstGeom>
        </p:spPr>
      </p:pic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E148FA66-A9C8-0844-A967-1AE5F2A87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99" y="2205756"/>
            <a:ext cx="7010400" cy="17653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A074F21-0B8A-6443-AF54-0A7E9431197D}"/>
              </a:ext>
            </a:extLst>
          </p:cNvPr>
          <p:cNvSpPr txBox="1"/>
          <p:nvPr/>
        </p:nvSpPr>
        <p:spPr>
          <a:xfrm>
            <a:off x="8276766" y="6195906"/>
            <a:ext cx="3915234" cy="338484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sz="1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출처 </a:t>
            </a:r>
            <a:r>
              <a:rPr kumimoji="1" lang="en-US" altLang="ko-KR" sz="1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:</a:t>
            </a:r>
            <a:r>
              <a:rPr kumimoji="1" lang="ko-KR" altLang="en-US" sz="1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 </a:t>
            </a:r>
            <a:r>
              <a:rPr kumimoji="1" lang="en" altLang="ko-KR" sz="1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https://</a:t>
            </a:r>
            <a:r>
              <a:rPr kumimoji="1" lang="en" altLang="ko-KR" sz="16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ko.javascript.info</a:t>
            </a:r>
            <a:r>
              <a:rPr kumimoji="1" lang="en" altLang="ko-KR" sz="1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/cookie</a:t>
            </a:r>
            <a:endParaRPr kumimoji="1" lang="ko-KR" altLang="en-US" sz="16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141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kumimoji="1" lang="en-US" altLang="ko-KR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sessionStorage</a:t>
            </a:r>
            <a:endParaRPr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636E0-F83F-AC4F-A4DB-67A55A933E06}"/>
              </a:ext>
            </a:extLst>
          </p:cNvPr>
          <p:cNvSpPr txBox="1"/>
          <p:nvPr/>
        </p:nvSpPr>
        <p:spPr>
          <a:xfrm>
            <a:off x="685799" y="1135171"/>
            <a:ext cx="9266827" cy="3224210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sessionStorage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세션이 끝나면 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윈도우를 종료하거나 브라우저를 닫으면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)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데이터가 자동 삭제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브라우저가 열려있고 페이지를 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refresh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하거나 복원했을 때는 삭제되지 않음 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새로운 탭이나 창에서 페이지를 열면 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cookie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작동 방식과는 다른 최상위 레벨의 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탐색 컨텍스트 값으로 새 세션이 시작 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동일한 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URL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에서 여러 탭 또는 창을 열면 각 탭 또는 창에 대해 </a:t>
            </a:r>
            <a:r>
              <a:rPr lang="en" altLang="ko-KR" dirty="0" err="1">
                <a:solidFill>
                  <a:schemeClr val="bg1"/>
                </a:solidFill>
                <a:latin typeface="+mn-ea"/>
              </a:rPr>
              <a:t>sessionStorage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가 생성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탭 또는 창을 닫으면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바로 </a:t>
            </a:r>
            <a:r>
              <a:rPr lang="en" altLang="ko-KR" dirty="0" err="1">
                <a:solidFill>
                  <a:schemeClr val="bg1"/>
                </a:solidFill>
                <a:latin typeface="+mn-ea"/>
              </a:rPr>
              <a:t>sessionStorage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의 객체가 삭제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54406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kumimoji="1" lang="en-US" altLang="ko-KR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sessionStorage</a:t>
            </a:r>
            <a:endParaRPr lang="ko-Kore-KR" altLang="en-US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37D7BB0B-FE46-EB49-9DA3-7ECA112FA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500" y="1140114"/>
            <a:ext cx="7668877" cy="501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652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pPr marL="0" indent="0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Local Storage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636E0-F83F-AC4F-A4DB-67A55A933E06}"/>
              </a:ext>
            </a:extLst>
          </p:cNvPr>
          <p:cNvSpPr txBox="1"/>
          <p:nvPr/>
        </p:nvSpPr>
        <p:spPr>
          <a:xfrm>
            <a:off x="685799" y="1135171"/>
            <a:ext cx="7821239" cy="1592994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Local Storage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사용자가 지우지 않는 이상 데이터가 브라우저에 영구적으로 남아있음 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   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=&gt;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만료기간이 없음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58401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pPr marL="0" indent="0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Local Storage</a:t>
            </a: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251103BC-7EDD-954C-A332-5E226FC90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63" y="1176201"/>
            <a:ext cx="800100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920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pPr marL="0" indent="0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latin typeface="+mn-ea"/>
                <a:cs typeface="Arial" panose="020B0604020202020204" pitchFamily="34" charset="0"/>
              </a:rPr>
              <a:t>Local Storage</a:t>
            </a: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1CFDF21B-214D-BD4D-A5FB-AF94A6690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64" y="1695581"/>
            <a:ext cx="7414217" cy="46956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92C5B3-D724-DD4F-AE9A-54DF8787D058}"/>
              </a:ext>
            </a:extLst>
          </p:cNvPr>
          <p:cNvSpPr txBox="1"/>
          <p:nvPr/>
        </p:nvSpPr>
        <p:spPr>
          <a:xfrm>
            <a:off x="685799" y="1135171"/>
            <a:ext cx="5944123" cy="454221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브라우저를 종료 후 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재시작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해도 데이터가 남아 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6834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AA7D45-296B-5F4A-B4C7-7EA45472CD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94024" y="3460960"/>
            <a:ext cx="7042151" cy="535531"/>
          </a:xfrm>
        </p:spPr>
        <p:txBody>
          <a:bodyPr/>
          <a:lstStyle/>
          <a:p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JSON</a:t>
            </a:r>
            <a:endParaRPr lang="ko-Kore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E95281-7B3F-3943-A8CD-F4D72E7B544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endParaRPr lang="ko-Kore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1BEDE63-39BD-CC40-B540-B0964416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15608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" altLang="en-US" dirty="0"/>
              <a:t>JSON</a:t>
            </a:r>
            <a:endParaRPr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636E0-F83F-AC4F-A4DB-67A55A933E06}"/>
              </a:ext>
            </a:extLst>
          </p:cNvPr>
          <p:cNvSpPr txBox="1"/>
          <p:nvPr/>
        </p:nvSpPr>
        <p:spPr>
          <a:xfrm>
            <a:off x="685799" y="1135171"/>
            <a:ext cx="8367863" cy="3224210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JSON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(JavaScript Object Notation)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데이터를 저장하거나 전송할 때 많이 사용되는 경량의 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DATA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교환 형식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Javascript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에서 객체를 만들 때 사용하는 표현식을 의미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  <a:latin typeface="+mn-ea"/>
              </a:rPr>
              <a:t>JSON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표현식은 사람과 기계 모두 이해하기 쉬우며 용량이 작아서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     최근에는 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JSON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이 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XML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을 대체해서 데이터 전송 등에 많이 사용한다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  <a:latin typeface="+mn-ea"/>
              </a:rPr>
              <a:t>JSON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은 데이터 포맷일 뿐이며 어떠한 통신 방법도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프로그래밍 문법도 아닌 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     단순히 데이터를 표시하는 표현 방법일 뿐이다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302534-583A-D248-A587-1535C52765BE}"/>
              </a:ext>
            </a:extLst>
          </p:cNvPr>
          <p:cNvSpPr txBox="1"/>
          <p:nvPr/>
        </p:nvSpPr>
        <p:spPr>
          <a:xfrm>
            <a:off x="4378776" y="6234378"/>
            <a:ext cx="7813224" cy="2615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" altLang="ko-KR" sz="11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https://</a:t>
            </a:r>
            <a:r>
              <a:rPr kumimoji="1" lang="en" altLang="ko-KR" sz="11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velog.io</a:t>
            </a:r>
            <a:r>
              <a:rPr kumimoji="1" lang="en" altLang="ko-KR" sz="11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/@surim014/JSON%EC%9D%B4%EB%9E%80-%EB%AC%B4%EC%97%87%EC%9D%B8%EA%B0%80</a:t>
            </a:r>
            <a:endParaRPr kumimoji="1" lang="ko-KR" altLang="en-US" sz="11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702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" altLang="en-US" dirty="0"/>
              <a:t>JSON</a:t>
            </a:r>
            <a:endParaRPr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636E0-F83F-AC4F-A4DB-67A55A933E06}"/>
              </a:ext>
            </a:extLst>
          </p:cNvPr>
          <p:cNvSpPr txBox="1"/>
          <p:nvPr/>
        </p:nvSpPr>
        <p:spPr>
          <a:xfrm>
            <a:off x="685799" y="1135171"/>
            <a:ext cx="11152279" cy="4055207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JSON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특징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서버와 클라이언트 간의 교류에서 일반적으로 많이 사용된다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자바스크립트 객체 표기법과 아주 유사하다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자바스크립트를 이용하여 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JSON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형식의 문서를 쉽게 자바스크립트 객체로 변환할 수 있는 이점이 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ko-KR" dirty="0">
                <a:solidFill>
                  <a:schemeClr val="bg1"/>
                </a:solidFill>
                <a:latin typeface="+mn-ea"/>
              </a:rPr>
              <a:t>JSON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문서 형식은 자바스크립트 객체의 형식을 기반으로 만들어졌다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자바스크립트의 문법과 굉장히 유사하지만 텍스트 형식일 뿐이다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다른 프로그래밍 언어를 이용해서도 쉽게 만들 수 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특정 언어에 종속되지 않으며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대부분의 프로그래밍 언어에서 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JSON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포맷의 데이터를 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     핸들링 할 수 있는 라이브러리를 제공한다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302534-583A-D248-A587-1535C52765BE}"/>
              </a:ext>
            </a:extLst>
          </p:cNvPr>
          <p:cNvSpPr txBox="1"/>
          <p:nvPr/>
        </p:nvSpPr>
        <p:spPr>
          <a:xfrm>
            <a:off x="4378776" y="6234378"/>
            <a:ext cx="7813224" cy="2615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" altLang="ko-KR" sz="11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https://</a:t>
            </a:r>
            <a:r>
              <a:rPr kumimoji="1" lang="en" altLang="ko-KR" sz="11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velog.io</a:t>
            </a:r>
            <a:r>
              <a:rPr kumimoji="1" lang="en" altLang="ko-KR" sz="11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/@surim014/JSON%EC%9D%B4%EB%9E%80-%EB%AC%B4%EC%97%87%EC%9D%B8%EA%B0%80</a:t>
            </a:r>
            <a:endParaRPr kumimoji="1" lang="ko-KR" altLang="en-US" sz="11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903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" altLang="en-US" dirty="0"/>
              <a:t>JSON</a:t>
            </a:r>
            <a:endParaRPr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636E0-F83F-AC4F-A4DB-67A55A933E06}"/>
              </a:ext>
            </a:extLst>
          </p:cNvPr>
          <p:cNvSpPr txBox="1"/>
          <p:nvPr/>
        </p:nvSpPr>
        <p:spPr>
          <a:xfrm>
            <a:off x="685799" y="1135171"/>
            <a:ext cx="1793948" cy="4000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JSON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문법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302534-583A-D248-A587-1535C52765BE}"/>
              </a:ext>
            </a:extLst>
          </p:cNvPr>
          <p:cNvSpPr txBox="1"/>
          <p:nvPr/>
        </p:nvSpPr>
        <p:spPr>
          <a:xfrm>
            <a:off x="4378776" y="6234378"/>
            <a:ext cx="7813224" cy="2615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" altLang="ko-KR" sz="11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https://</a:t>
            </a:r>
            <a:r>
              <a:rPr kumimoji="1" lang="en" altLang="ko-KR" sz="11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velog.io</a:t>
            </a:r>
            <a:r>
              <a:rPr kumimoji="1" lang="en" altLang="ko-KR" sz="11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/@surim014/JSON%EC%9D%B4%EB%9E%80-%EB%AC%B4%EC%97%87%EC%9D%B8%EA%B0%80</a:t>
            </a:r>
            <a:endParaRPr kumimoji="1" lang="ko-KR" altLang="en-US" sz="11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2F190-6EA1-5843-8B0C-C4A549304874}"/>
              </a:ext>
            </a:extLst>
          </p:cNvPr>
          <p:cNvSpPr txBox="1"/>
          <p:nvPr/>
        </p:nvSpPr>
        <p:spPr>
          <a:xfrm>
            <a:off x="4157103" y="1535210"/>
            <a:ext cx="7736344" cy="3264413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ko-KR" sz="2000" dirty="0">
                <a:solidFill>
                  <a:schemeClr val="bg1"/>
                </a:solidFill>
                <a:latin typeface="+mn-ea"/>
              </a:rPr>
              <a:t>JSON 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형식은 자바스크립트 객체와 마찬가지로 </a:t>
            </a:r>
            <a:endParaRPr lang="en-US" altLang="ko-KR" sz="2000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    </a:t>
            </a:r>
            <a:r>
              <a:rPr lang="en" altLang="ko-KR" sz="2000" dirty="0">
                <a:solidFill>
                  <a:schemeClr val="bg1"/>
                </a:solidFill>
                <a:latin typeface="+mn-ea"/>
              </a:rPr>
              <a:t>key / value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 쌍으로 이루어져 있다</a:t>
            </a: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객체</a:t>
            </a: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배열 등의 표기를 사용할 수 있다</a:t>
            </a: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.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일반 자바스크립트의 객체처럼 원하는 만큼 </a:t>
            </a:r>
            <a:endParaRPr lang="en-US" altLang="ko-KR" sz="2000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    </a:t>
            </a:r>
            <a:r>
              <a:rPr lang="ko-KR" altLang="en-US" sz="2000" dirty="0" err="1">
                <a:solidFill>
                  <a:schemeClr val="bg1"/>
                </a:solidFill>
                <a:latin typeface="+mn-ea"/>
              </a:rPr>
              <a:t>중첩시켜서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 사용할 수도 있다</a:t>
            </a: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.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ko-KR" sz="2000" dirty="0">
                <a:solidFill>
                  <a:schemeClr val="bg1"/>
                </a:solidFill>
                <a:latin typeface="+mn-ea"/>
              </a:rPr>
              <a:t>JSON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형식에서는 </a:t>
            </a:r>
            <a:r>
              <a:rPr lang="en" altLang="ko-KR" sz="2000" dirty="0">
                <a:solidFill>
                  <a:schemeClr val="bg1"/>
                </a:solidFill>
                <a:latin typeface="+mn-ea"/>
              </a:rPr>
              <a:t>null, number, string, array, object, </a:t>
            </a:r>
            <a:r>
              <a:rPr lang="en" altLang="ko-KR" sz="2000" dirty="0" err="1">
                <a:solidFill>
                  <a:schemeClr val="bg1"/>
                </a:solidFill>
                <a:latin typeface="+mn-ea"/>
              </a:rPr>
              <a:t>boolean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을 </a:t>
            </a:r>
            <a:endParaRPr lang="en-US" altLang="ko-KR" sz="2000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    사용할 수 있다</a:t>
            </a: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.</a:t>
            </a:r>
            <a:endParaRPr kumimoji="1" lang="ko-KR" altLang="en-US" sz="20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8FC12984-FDF9-974F-98AA-4790778C1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1557700"/>
            <a:ext cx="328930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25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16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" altLang="en-US" dirty="0"/>
              <a:t>JSON</a:t>
            </a:r>
            <a:endParaRPr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636E0-F83F-AC4F-A4DB-67A55A933E06}"/>
              </a:ext>
            </a:extLst>
          </p:cNvPr>
          <p:cNvSpPr txBox="1"/>
          <p:nvPr/>
        </p:nvSpPr>
        <p:spPr>
          <a:xfrm>
            <a:off x="685799" y="1135171"/>
            <a:ext cx="6477987" cy="4000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JSON 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형식 텍스트를 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JavaScript Object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로 변환하기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F0C8FB11-DE4D-D74D-ADDB-4D537058D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676" y="2098754"/>
            <a:ext cx="8745198" cy="347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621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17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" altLang="en-US" dirty="0"/>
              <a:t>JSON</a:t>
            </a:r>
            <a:endParaRPr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636E0-F83F-AC4F-A4DB-67A55A933E06}"/>
              </a:ext>
            </a:extLst>
          </p:cNvPr>
          <p:cNvSpPr txBox="1"/>
          <p:nvPr/>
        </p:nvSpPr>
        <p:spPr>
          <a:xfrm>
            <a:off x="685799" y="1135171"/>
            <a:ext cx="4461344" cy="4000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JSON 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을 텍스트 형태로 변경 하기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95262C24-35D0-5E4E-9F11-3E3CD2388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83" y="2072721"/>
            <a:ext cx="8824682" cy="350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845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91374" tIns="45685" rIns="91374" bIns="45685">
        <a:spAutoFit/>
      </a:bodyPr>
      <a:lstStyle>
        <a:defPPr algn="l" defTabSz="912813" fontAlgn="base">
          <a:spcBef>
            <a:spcPts val="600"/>
          </a:spcBef>
          <a:spcAft>
            <a:spcPct val="0"/>
          </a:spcAft>
          <a:defRPr kumimoji="1" sz="2000" b="1" dirty="0" err="1">
            <a:ln>
              <a:solidFill>
                <a:schemeClr val="bg1">
                  <a:lumMod val="85000"/>
                  <a:alpha val="0"/>
                </a:schemeClr>
              </a:solidFill>
            </a:ln>
            <a:solidFill>
              <a:srgbClr val="4B465E"/>
            </a:solidFill>
            <a:latin typeface="맑은 고딕" pitchFamily="50" charset="-127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2382</TotalTime>
  <Words>705</Words>
  <Application>Microsoft Macintosh PowerPoint</Application>
  <PresentationFormat>와이드스크린</PresentationFormat>
  <Paragraphs>130</Paragraphs>
  <Slides>17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批量名称</dc:creator>
  <cp:lastModifiedBy>批量名称</cp:lastModifiedBy>
  <cp:revision>457</cp:revision>
  <dcterms:created xsi:type="dcterms:W3CDTF">2020-12-17T04:08:04Z</dcterms:created>
  <dcterms:modified xsi:type="dcterms:W3CDTF">2021-07-07T08:07:09Z</dcterms:modified>
</cp:coreProperties>
</file>