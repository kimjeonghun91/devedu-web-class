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18"/>
  </p:notesMasterIdLst>
  <p:sldIdLst>
    <p:sldId id="266" r:id="rId2"/>
    <p:sldId id="292" r:id="rId3"/>
    <p:sldId id="302" r:id="rId4"/>
    <p:sldId id="303" r:id="rId5"/>
    <p:sldId id="304" r:id="rId6"/>
    <p:sldId id="305" r:id="rId7"/>
    <p:sldId id="306" r:id="rId8"/>
    <p:sldId id="307" r:id="rId9"/>
    <p:sldId id="309" r:id="rId10"/>
    <p:sldId id="308" r:id="rId11"/>
    <p:sldId id="311" r:id="rId12"/>
    <p:sldId id="312" r:id="rId13"/>
    <p:sldId id="310" r:id="rId14"/>
    <p:sldId id="313" r:id="rId15"/>
    <p:sldId id="314" r:id="rId16"/>
    <p:sldId id="315" r:id="rId17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54C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85"/>
    <p:restoredTop sz="76127"/>
  </p:normalViewPr>
  <p:slideViewPr>
    <p:cSldViewPr snapToGrid="0" snapToObjects="1">
      <p:cViewPr varScale="1">
        <p:scale>
          <a:sx n="92" d="100"/>
          <a:sy n="92" d="100"/>
        </p:scale>
        <p:origin x="1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6/28/21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54559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6971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39130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21797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59537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&lt;title&gt;Browser&lt;/title&gt;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class="one" style="width: 300px; height: 300px; background-color: red;"&gt;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class="two" style="width: 200px; height: 200px; background-color: blue;"&gt;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class="three" style="width: 100px; height: 100px; background-color: green;"&gt;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document.querySelectorAll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('div');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divs.forEach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(function (div)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event.currentTarget.className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64175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&lt;title&gt;Browser&lt;/title&gt;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class="one" style="width: 300px; height: 300px; background-color: red;"&gt;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class="two" style="width: 200px; height: 200px; background-color: blue;"&gt;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class="three" style="width: 100px; height: 100px; background-color: green;"&gt;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document.querySelectorAll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('div');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divs.forEach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(function (div)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event.currentTarget.className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capture: true // default: false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49351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8728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&lt;title&gt;Browser&lt;/title&gt;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class="one" style="width: 300px; height: 300px; background-color: red;"&gt;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class="two" style="width: 200px; height: 200px; background-color: blue;"&gt;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class="three" style="width: 100px; height: 100px; background-color: green;"&gt;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document.querySelectorAll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('div');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divs.forEach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(function (div)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(event)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event.stopPropagation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event.currentTarget.className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capture: true // default: false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72174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&lt;title&gt;Browser&lt;/title&gt;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class="one" style="width: 300px; height: 300px; background-color: red;"&gt;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class="two" style="width: 200px; height: 200px; background-color: blue;"&gt;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class="three" style="width: 100px; height: 100px; background-color: green;"&gt;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one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('.one');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two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('.two');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three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('.three');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!==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event.currentTarget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return;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event.currentTarget.className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!==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event.currentTarget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return;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event.currentTarget.className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!==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event.currentTarget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return;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event.currentTarget.className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39727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38902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&lt;title&gt;Browser&lt;/title&gt;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&lt;a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="https://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www.naver.com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네이버 링크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('a');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aTag.addEventListener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(event)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event.preventDefault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69247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08658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&lt;title&gt;Browser&lt;/title&gt;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.selected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greenyellow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&lt;ul&gt;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&lt;li&gt;btn01&lt;/li&gt;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&lt;li&gt;btn02&lt;/li&gt;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&lt;li&gt;btn03&lt;/li&gt;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&lt;li&gt;btn04&lt;/li&gt;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&lt;li&gt;btn05&lt;/li&gt;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&lt;/ul&gt;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document.querySelectorAll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('li');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lis.forEach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(li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()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li.classList.add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('selected');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7478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&lt;title&gt;Browser&lt;/title&gt;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.selected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greenyellow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&lt;ul&gt;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&lt;li&gt;btn01&lt;/li&gt;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&lt;li&gt;btn02&lt;/li&gt;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&lt;li&gt;btn03&lt;/li&gt;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&lt;li&gt;btn04&lt;/li&gt;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&lt;li&gt;btn05&lt;/li&gt;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&lt;/ul&gt;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ul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('ul');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event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event.target.tagName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"+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event.target.tagName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)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event.target.tagName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=== 'LI')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event.target.classList.add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('selected');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47034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161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7</a:t>
            </a: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이벤트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28" name="Picture 4" descr="scrollTo">
            <a:extLst>
              <a:ext uri="{FF2B5EF4-FFF2-40B4-BE49-F238E27FC236}">
                <a16:creationId xmlns:a16="http://schemas.microsoft.com/office/drawing/2014/main" id="{A37EB5EB-873B-8D43-ADB5-67B561305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9" y="530543"/>
            <a:ext cx="12206651" cy="45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7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747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BE05E-519D-8348-B91F-D33230268654}"/>
              </a:ext>
            </a:extLst>
          </p:cNvPr>
          <p:cNvSpPr txBox="1"/>
          <p:nvPr/>
        </p:nvSpPr>
        <p:spPr>
          <a:xfrm>
            <a:off x="726152" y="2782011"/>
            <a:ext cx="10627648" cy="646260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en" altLang="ko-KR" sz="3600" dirty="0">
                <a:solidFill>
                  <a:schemeClr val="bg1"/>
                </a:solidFill>
                <a:latin typeface="+mn-ea"/>
              </a:rPr>
              <a:t>https://</a:t>
            </a:r>
            <a:r>
              <a:rPr lang="en" altLang="ko-KR" sz="3600" dirty="0" err="1">
                <a:solidFill>
                  <a:schemeClr val="bg1"/>
                </a:solidFill>
                <a:latin typeface="+mn-ea"/>
              </a:rPr>
              <a:t>developer.mozilla.org</a:t>
            </a:r>
            <a:r>
              <a:rPr lang="en" altLang="ko-KR" sz="3600" dirty="0">
                <a:solidFill>
                  <a:schemeClr val="bg1"/>
                </a:solidFill>
                <a:latin typeface="+mn-ea"/>
              </a:rPr>
              <a:t>/ko/docs/Web/Events</a:t>
            </a:r>
            <a:endParaRPr lang="en-US" altLang="ko-KR" sz="36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79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5E5F47AA-F65F-C64F-AA77-B80CCB1A7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09" y="1374704"/>
            <a:ext cx="11831782" cy="410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68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BE05E-519D-8348-B91F-D33230268654}"/>
              </a:ext>
            </a:extLst>
          </p:cNvPr>
          <p:cNvSpPr txBox="1"/>
          <p:nvPr/>
        </p:nvSpPr>
        <p:spPr>
          <a:xfrm>
            <a:off x="685799" y="1162879"/>
            <a:ext cx="8752584" cy="1977715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Bubbling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한 요소에 이벤트가 발생하면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 요소에 할당된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핸들러가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동작하고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이어서 부모 요소의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핸들러가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동작합니다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가장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최상단의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조상 요소를 만날 때까지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이 과정이 반복되면서 요소 각각에 할당된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핸들러가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동작합니다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3864516"/>
            <a:ext cx="9175777" cy="11467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Capturing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Bubbling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과는 반대로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window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로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부터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이벤트가 발생한 요소까지 이벤트를 전파한다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6525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pic>
        <p:nvPicPr>
          <p:cNvPr id="1026" name="Picture 2" descr="Event Propagation Demo">
            <a:extLst>
              <a:ext uri="{FF2B5EF4-FFF2-40B4-BE49-F238E27FC236}">
                <a16:creationId xmlns:a16="http://schemas.microsoft.com/office/drawing/2014/main" id="{87EE512B-4B06-7E4F-B001-3BFAFD477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19" y="1184564"/>
            <a:ext cx="9937962" cy="4968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47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5BC34-2FE8-B44D-B8DB-5EF63CF32051}"/>
              </a:ext>
            </a:extLst>
          </p:cNvPr>
          <p:cNvSpPr txBox="1"/>
          <p:nvPr/>
        </p:nvSpPr>
        <p:spPr>
          <a:xfrm>
            <a:off x="685799" y="1162879"/>
            <a:ext cx="1627235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Bubbling</a:t>
            </a:r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4DE87BD5-2868-694B-8C04-29CCDF8F5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256" y="1656898"/>
            <a:ext cx="91948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64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5BC34-2FE8-B44D-B8DB-5EF63CF32051}"/>
              </a:ext>
            </a:extLst>
          </p:cNvPr>
          <p:cNvSpPr txBox="1"/>
          <p:nvPr/>
        </p:nvSpPr>
        <p:spPr>
          <a:xfrm>
            <a:off x="685799" y="1162879"/>
            <a:ext cx="1735535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Capturing</a:t>
            </a:r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786DE345-0188-6E4C-9FAE-E6B35F40B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04" y="1701417"/>
            <a:ext cx="8522712" cy="488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82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BE05E-519D-8348-B91F-D33230268654}"/>
              </a:ext>
            </a:extLst>
          </p:cNvPr>
          <p:cNvSpPr txBox="1"/>
          <p:nvPr/>
        </p:nvSpPr>
        <p:spPr>
          <a:xfrm>
            <a:off x="685799" y="1162879"/>
            <a:ext cx="7641702" cy="11467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event.stopPropagation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();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이벤트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캡쳐링과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버블링에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있어 현재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이벤트 이후의 전파를 막습니다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3864516"/>
            <a:ext cx="7954288" cy="11467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event.stopImmediatePropagation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()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현재 이벤트가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상위뿐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아니라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현재 레벨에 걸린 다른 이벤트도 중단한다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4074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5BC34-2FE8-B44D-B8DB-5EF63CF32051}"/>
              </a:ext>
            </a:extLst>
          </p:cNvPr>
          <p:cNvSpPr txBox="1"/>
          <p:nvPr/>
        </p:nvSpPr>
        <p:spPr>
          <a:xfrm>
            <a:off x="685799" y="1162879"/>
            <a:ext cx="2559542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stopPropagation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327F5393-B5DF-9D49-B786-9D73F3F68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53" y="1632030"/>
            <a:ext cx="8228019" cy="494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758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5BC34-2FE8-B44D-B8DB-5EF63CF32051}"/>
              </a:ext>
            </a:extLst>
          </p:cNvPr>
          <p:cNvSpPr txBox="1"/>
          <p:nvPr/>
        </p:nvSpPr>
        <p:spPr>
          <a:xfrm>
            <a:off x="685799" y="1162879"/>
            <a:ext cx="4485390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위와 같은 상황에서의 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Good Code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05205D81-FD88-F043-8853-F17A03428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69" y="1773382"/>
            <a:ext cx="5684682" cy="2640915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F4B8261C-7F4F-5240-AD85-917561E21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781" y="1773382"/>
            <a:ext cx="5091594" cy="481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46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9010667" cy="1562216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event.preventDefault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()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이벤트를 취소할 수 있는 경우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이벤트의 전파를 막지않고 그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이벤트를 취소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   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브라우저의 기본 동작 자체를 취소 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280510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5BC34-2FE8-B44D-B8DB-5EF63CF32051}"/>
              </a:ext>
            </a:extLst>
          </p:cNvPr>
          <p:cNvSpPr txBox="1"/>
          <p:nvPr/>
        </p:nvSpPr>
        <p:spPr>
          <a:xfrm>
            <a:off x="685799" y="1162879"/>
            <a:ext cx="2352562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preventDefault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F765F388-BABD-8546-93AA-202AF627E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04" y="1713192"/>
            <a:ext cx="53086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91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10413295" cy="1977715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이벤트 위임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(Event Delegation)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이벤트 위임은 비슷한 방식으로 여러 요소를 다뤄야 할 때 사용됩니다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   이벤트 위임을 사용하면 요소마다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핸들러를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할당하지 않고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   요소의 공통 조상에 이벤트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핸들러를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단 하나만 할당해도 여러 요소를 한꺼번에 다룰 수 있습니다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7183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1707385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Bad Code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27320B8E-059D-7F4D-8BE0-766C9365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93" y="1751151"/>
            <a:ext cx="3797300" cy="4000500"/>
          </a:xfrm>
          <a:prstGeom prst="rect">
            <a:avLst/>
          </a:prstGeom>
        </p:spPr>
      </p:pic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4AFD9384-1E94-794A-9BD2-54257B992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79" y="1751151"/>
            <a:ext cx="49530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87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1907761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Good Code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27320B8E-059D-7F4D-8BE0-766C9365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93" y="1751151"/>
            <a:ext cx="3797300" cy="4000500"/>
          </a:xfrm>
          <a:prstGeom prst="rect">
            <a:avLst/>
          </a:prstGeom>
        </p:spPr>
      </p:pic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36934D1E-F15F-1A43-9A67-368E9C984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515" y="1751151"/>
            <a:ext cx="49530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72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1926</TotalTime>
  <Words>1570</Words>
  <Application>Microsoft Macintosh PowerPoint</Application>
  <PresentationFormat>와이드스크린</PresentationFormat>
  <Paragraphs>307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446</cp:revision>
  <dcterms:created xsi:type="dcterms:W3CDTF">2020-12-17T04:08:04Z</dcterms:created>
  <dcterms:modified xsi:type="dcterms:W3CDTF">2021-06-28T07:19:25Z</dcterms:modified>
</cp:coreProperties>
</file>