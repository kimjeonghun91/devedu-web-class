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9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9" r:id="rId1"/>
  </p:sldMasterIdLst>
  <p:notesMasterIdLst>
    <p:notesMasterId r:id="rId38"/>
  </p:notesMasterIdLst>
  <p:sldIdLst>
    <p:sldId id="266" r:id="rId2"/>
    <p:sldId id="264" r:id="rId3"/>
    <p:sldId id="261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9" r:id="rId34"/>
    <p:sldId id="296" r:id="rId35"/>
    <p:sldId id="297" r:id="rId36"/>
    <p:sldId id="298" r:id="rId37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92D1"/>
    <a:srgbClr val="54CFD1"/>
    <a:srgbClr val="4454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73"/>
    <p:restoredTop sz="77354"/>
  </p:normalViewPr>
  <p:slideViewPr>
    <p:cSldViewPr snapToGrid="0" snapToObjects="1">
      <p:cViewPr varScale="1">
        <p:scale>
          <a:sx n="120" d="100"/>
          <a:sy n="120" d="100"/>
        </p:scale>
        <p:origin x="27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9" d="100"/>
          <a:sy n="119" d="100"/>
        </p:scale>
        <p:origin x="392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07.124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</inkml:brush>
  </inkml:definitions>
  <inkml:trace contextRef="#ctx0" brushRef="#br0">0 0,'53'0,"-2"10,1-8,-16 7,-1-9,-16 0,13 0,-8 0,71 0,-50 0,19 0,0 0,-22 0,24-2,-54 2,-3-2,1 2,0 0,2 0,8 0,-11 0,14 0,-13 0,9-3,-10 2,2-2,0 3,-1 0,1 0,7 0,-4 0,8 0,-9 0,1 0,-7 0,6 0,-3 0,3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10.348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</inkml:brush>
  </inkml:definitions>
  <inkml:trace contextRef="#ctx0" brushRef="#br0">1 8,'76'-8,"14"9,-23 7,11 0,7 5,2-1,-18-3,13 2,-54-11,6 0,-29 0,2 0,8 0,-5 0,8 0,8 0,-15 0,13 0,-20 0,3 0,23 0,-10 0,13 0,-4 0,26 0,-16 0,13 2,-40 0,-6 1,5-3,1-3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17.8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0,'50'7,"9"-3,-14 5,-2-5,7 2,-15 1,39 2,-40-2,23 0,-48-7,15 0,-18 0,16 0,21 0,35-5,-24 1,7-2,-56 4,27 2,-4 0,44 0,-40 0,10 0,-35 0,-3 0,17 0,-2 0,11 0,-12 0,-5 0,-8 0,8 0,-3-2,4 1,-3-1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20.48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0,'48'0,"-1"0,16 7,-6 0,18 1,19 4,-31-11,2 2,-2 0,-19-3,10 0,-3 0,-24 0,38 0,-47 0,23 0,-31 0,31-7,-27 5,15-7,-21 9,-3-2,11-1,-7 2,7-4,-5 4,-2-1,3 2,-1 0,-2 0,5 0,-5 0,4 0,-3-2,1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27.524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1 21,'78'-11,"-16"2,-4 9,-21 0,16-1,3 2,8 5,20-6,3 1,5 5,-4-6,-2 0,-12 0,19 0,-65 0,12 0,-24-4,5 3,-10-4,-7 5,9 3,-4-3,4 2,0-4,-7 1,4-1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29.436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1 51,'44'-7,"-10"-3,6 10,-7-3,-1 3,-2 0,0 0,69 0,-55 0,48 0,-83 0,7 0,-1 0,72 5,-30-3,7 1,-2 0,-21-5,4 1,-34-1,-2 2,29-6,-15 0,17-1,-7-1,-18 6,9-1,-19 1,2 2,9-2,-8 2,9-2,-13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42.253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27,'27'2,"1"1,-13 3,5 1,4-3,5-4,56-12,-23 2,9 2,0 2,4 1,-6 4,-2 2,-8-1,8 0,-1 0,-15 0,30 0,-47 0,-18 0,1 0,-11 0,5-4,1 2,2 0,-1 3,-1 5,-5-5,6 3,-2-4,0-2,-1-1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07:49:45.20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0,'72'0,"-2"0,15 0,5 0,-36 0,2 0,-1 0,0 0,-2 0,4 0,13 0,8 0,-9 0,-15 0,-1 0,47 0,-15 0,-58 0,-1 0,-19 0,0 0,2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3T06:25:34.37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0,'56'73,"0"0,-7-11,-9-8,-16-16,-4-7,0-1,6-22,-4 5,-6-28,44-42,-31 34,36-35,4 9,-4 4,-27 15,31-17,-13 6,-53 34,0 4,-3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3T06:25:37.05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0,'22'16,"-2"1,-14-11,0 6,0-3,2 3,37 73,-15-28,-5-11,-2-3,-5-4,-7-11,-4-14,5 19,-6-26,0 2,8-25,-6 8,8-17,12-12,-11 18,22-19,2 1,-16 19,24-16,-1 3,-30 22,41-29,-49 32,12-8,-19 8,0 3,-3-3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3T06:25:39.88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1 138,'27'18,"-5"-4,-15 4,-1-6,4 12,11 12,-8-7,9 23,-18-38,12 24,-14-29,17 16,-14-17,6 3,0-17,-1-4,2-5,13-16,-12 15,25-22,5-1,-11 13,21-19,-2 2,-27 24,46-33,-57 42,49-32,-49 31,28-19,-37 25,4-3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3T06:25:41.54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0 188,'16'25,"-2"-5,-8-9,0-4,0 4,20 33,-10-17,13 27,2 4,-6-18,17 46,-30-68,-3-4,-1-17,4-9,-2 1,2-6,-1 1,15-25,-5 9,32-24,5 1,-16 16,34-21,-1 4,-43 33,12-11,-4 2,-26 18,32-30,-35 33,22-16,-25 19,6-1,-8 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8T07:36:38.32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96,'10'26,"0"-4,-6-16,18 26,-7-11,14 27,-3-15,-14-9,6 0,-14-17,2-4,8-20,-9 7,8-15,20-22,-20 25,39-41,-42 50,25-20,-26 27,16-16,-18 20,10-17,-10 16,15-21,-13 17,5-10,-9 14,-1-2,2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8T07:36:40.1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1 100,'19'23,"-2"-1,-14-15,3 4,0 1,6 11,3 1,11 22,1 2,-6-12,12 16,-3-4,-20-34,12 13,-16-24,0-14,-3 3,11-48,-12 38,28-55,-23 59,34-54,-31 54,28-51,-31 52,17-34,-19 37,11-17,-11 18,8-16,-9 16,2-8,0 11,-3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8T07:36:38.321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96,'10'26,"0"-4,-6-16,18 26,-7-11,14 27,-3-15,-14-9,6 0,-14-17,2-4,8-20,-9 7,8-15,20-22,-20 25,39-41,-42 50,25-20,-26 27,16-16,-18 20,10-17,-10 16,15-21,-13 17,5-10,-9 14,-1-2,2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8T07:36:40.10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1 100,'19'23,"-2"-1,-14-15,3 4,0 1,6 11,3 1,11 22,1 2,-6-12,12 16,-3-4,-20-34,12 13,-16-24,0-14,-3 3,11-48,-12 38,28-55,-23 59,34-54,-31 54,28-51,-31 52,17-34,-19 37,11-17,-11 18,8-16,-9 16,2-8,0 11,-3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FB2E54-8ADE-1C42-B7E1-8C04B8CD0931}" type="datetimeFigureOut">
              <a:rPr kumimoji="1" lang="ko-Kore-KR" altLang="en-US" smtClean="0"/>
              <a:t>2020. 12. 30.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A6CA5-1AB8-7840-86E1-8A38211DD31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166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&lt;!-- 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작성일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2020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작성자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파일명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ex1-3.html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 &lt;!--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문자 세트를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UTF-8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설정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주석문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title&gt; &lt;!-- &lt;title&gt; 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페이지 제목 설정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 &lt;!-- &lt;body&gt; :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브라우의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메인 창에 표시되는 내용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--&gt;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주석문은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프로그램의 작성일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작성자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파일명 등을 기술하거나 프로그램을 설명하는 데 사용되는 것으로서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주석처리된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내용은 브라우저 화면에 나타나지 않는다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6265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&lt;h1&gt;HTML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&lt;h4&gt;HTML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h4&gt;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&lt;h5&gt;HTML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h5&gt;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&lt;h6&gt;HTML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h6&gt;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11508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&lt;h1 style="font-size: 50px"&gt;HTML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개요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&lt;h3 style="color: red"&gt;HTML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구조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59236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페이지란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페이지는 웹 브라우저에서 보는 각각의 화면을 말한다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페이지는 기본적으로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구성된 텍스트 파일 및 관련된 데이터 파일로 구성된다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서버는 클라이언트 측에 있는 웹 브라우저의 요청에 따라 해당 웹 페이지의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HTML/CSS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파일과 관련 데이터 파일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동영상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음성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클라이언트에 전송하고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클라이언트 측의 웹 브라우저는 서버로부터 받은 데이터 파일을 해석하여 화면에 보여준다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10189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&lt;p&gt;1.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가는 말이 고와야 오는 말이 곱다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말 한마디로 천냥 빛을 갚는다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티끌모아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태산이 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54504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(&amp;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nbsp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nbsp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nbsp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nbsp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nbsp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nbsp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;)&lt;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lt;body&amp;gt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태그가 의미하는 것은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quot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기상청 동네예보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&amp;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quot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&amp;#039;HyperText Markup Language&amp;#039;&lt;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HTML &amp;amp; CSS&lt;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copyright&amp;copy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2020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홍길동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42871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09101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동해안 자전거 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bike_road.jpg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title="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데크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자전거 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bike_road.jpg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width="300"&gt;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bike_road.jpg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width="200" height="200"&gt;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65411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03170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13812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42018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파일의 상대 경로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="fish1.jpg"&gt;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/fish2.jpg"&gt;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/test/fish3.jpg"&gt;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="../fish4.jpg"&gt;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43014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="http://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infonbook.com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/image/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logo.png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61175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&lt;audio controls&gt;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&lt;source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="sound1.mp3" type="audio/mpeg"&gt;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&lt;/audio&gt;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06460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&lt;audio controls&gt;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&lt;source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="sound1.mp3" type="audio/mpeg"&gt;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&lt;/audio&gt;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75538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&lt;video width="320" height="240" controls&gt;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&lt;source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="movie1.mp4" type="video/mp4"&gt;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&lt;/video&gt;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54031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06354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웹이란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웹은 거미줄을 의미하는데 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WWW(World Wide Web)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인터넷과 웹 브라우저를 통하여 정보를 사용자에게 제공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브라우저를 통하여 원격에 있는 사용자와 상호 간에 소통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관련 직업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디자이너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퍼블리셔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프로그래머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&lt;/ul&gt;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74347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라면 맛있게 끓이는 법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종이컵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컵 분량의 물을 넣어 준다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수프를 면보다 먼저 넣고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물이 끓으면 면을 넣는다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면을 젓가락으로 들어 올려주면서 끓인다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처음부터 끝까지 센 불을 유지해야 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29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96804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42856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128338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86492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센터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거대 네트워크가 구축된 대형 빌딩에 거주하는 데이터센터는 자신이 보유한 서버와 네트워크를 기업이나 기관에 임대하는 서비스를 제공합니다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서비스에는 웹 서버를 통째로 판매 또는 임대하는 서버 호스팅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홈페이지를 구축할 수 있는 디스크 공간과 서버의 계정을 제공하는 웹 호스팅 등이 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  <a:p>
            <a:endParaRPr lang="en" altLang="ko-Kore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510194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랙돌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고양이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="./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/cat1.jpg" width="300" title="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우리집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고양이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endParaRPr lang="ko-KR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매우 느긋한 성격으로 평소에 매우 느릿느릿한 걸음걸이로 움직이며 안아 올리면 몸에 힘을 빼고 축 늘어진다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사회적이며 사람을 좋아하여 장난감을 가지고 놀거나 아이들과 노는 것을 좋아한다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공격성향이 매우 낮아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집고양이로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적당하다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다루기 쉽고 순하다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912384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 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&lt;html&gt;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&lt;meta charset="utf-8"&gt;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&lt;/head&gt;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에버랜드 이용 안내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안전하고 즐거운 이용을 위하여 아래 물품의 반입을 제한합니다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동물에게 음식을 주거나 플래시를 켜고 촬영하지 마세요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가지고 오신 도시락은 피크닉 영역에서 이용해 주세요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&lt;/ul&gt;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&lt;p&gt;※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대기 동선에서 기다리기 어려운 장애인 손님을 위하여 탑승 예약을 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도와드리고 있으니 근무자에게 문의해 주시기 바랍니다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b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&lt;h2&gt;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대중교통 정보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지하철 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에버라인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종점에 내려서 셔틀버스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에버랜드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캐리비안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베이까지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이동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※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에버라인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운행시간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05:30~23:30&lt;/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&lt;li&gt;&lt;h3&gt;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버스 이용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&lt;p&gt;- 5002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신논현역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강남역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양재역 경유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- 5700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강변역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잠실역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송파역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수서역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경유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- 66-4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번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수원역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용인 경유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&lt;/li&gt;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" altLang="ko-Kore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</a:t>
            </a:r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&lt;/body&gt;</a:t>
            </a:r>
          </a:p>
          <a:p>
            <a:r>
              <a:rPr lang="en" altLang="ko-Kore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&lt;/html&gt;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A6CA5-1AB8-7840-86E1-8A38211DD311}" type="slidenum">
              <a:rPr kumimoji="1" lang="ko-Kore-KR" altLang="en-US" smtClean="0"/>
              <a:t>36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9926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목차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A11D6FC2-3699-114E-A2F5-2DF05DA32C3B}"/>
              </a:ext>
            </a:extLst>
          </p:cNvPr>
          <p:cNvSpPr/>
          <p:nvPr userDrawn="1"/>
        </p:nvSpPr>
        <p:spPr>
          <a:xfrm>
            <a:off x="445064" y="1507744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3838A-BE2E-8E43-B618-8D65C885101B}"/>
              </a:ext>
            </a:extLst>
          </p:cNvPr>
          <p:cNvSpPr txBox="1"/>
          <p:nvPr userDrawn="1"/>
        </p:nvSpPr>
        <p:spPr>
          <a:xfrm>
            <a:off x="667133" y="1548617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78544-F529-9243-9639-1427C2074D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772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34C11287-0330-9147-8C4E-97969ED1571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29780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4DD148-E2F3-6F43-A830-B1DF9707D5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567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A3EE9B3-6AC5-F94F-8261-F1619ABE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73347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79462A3-7C4E-9243-902A-129F0F8368E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33424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0" name="텍스트 개체 틀 4">
            <a:extLst>
              <a:ext uri="{FF2B5EF4-FFF2-40B4-BE49-F238E27FC236}">
                <a16:creationId xmlns:a16="http://schemas.microsoft.com/office/drawing/2014/main" id="{955026BC-E4E9-4E4C-A8FA-AA998F48E9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81303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D67461-D793-1544-B693-992F84F737A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83465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3" name="내용 개체 틀 2">
            <a:extLst>
              <a:ext uri="{FF2B5EF4-FFF2-40B4-BE49-F238E27FC236}">
                <a16:creationId xmlns:a16="http://schemas.microsoft.com/office/drawing/2014/main" id="{5954E74E-5CB1-174E-8154-A3FD85F60F7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443542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F6C9143E-F40A-FD4B-9B91-87D3A44965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91421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112B5D26-A0CE-9341-8145-20A60E6965D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393583" y="2745487"/>
            <a:ext cx="1584713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ko-KR" altLang="en-US" dirty="0" err="1"/>
              <a:t>큰제목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</p:txBody>
      </p:sp>
      <p:sp>
        <p:nvSpPr>
          <p:cNvPr id="36" name="내용 개체 틀 2">
            <a:extLst>
              <a:ext uri="{FF2B5EF4-FFF2-40B4-BE49-F238E27FC236}">
                <a16:creationId xmlns:a16="http://schemas.microsoft.com/office/drawing/2014/main" id="{94B07A4E-FE2B-E84D-AE7D-6887DCE53F9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953660" y="2745487"/>
            <a:ext cx="548917" cy="369332"/>
          </a:xfrm>
        </p:spPr>
        <p:txBody>
          <a:bodyPr wrap="square" anchor="ctr" anchorCtr="0">
            <a:spAutoFit/>
          </a:bodyPr>
          <a:lstStyle>
            <a:lvl1pPr>
              <a:buNone/>
              <a:defRPr sz="2000" b="1">
                <a:solidFill>
                  <a:srgbClr val="54CFD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ko-KR" dirty="0"/>
              <a:t>01.</a:t>
            </a:r>
          </a:p>
        </p:txBody>
      </p:sp>
      <p:sp>
        <p:nvSpPr>
          <p:cNvPr id="37" name="텍스트 개체 틀 4">
            <a:extLst>
              <a:ext uri="{FF2B5EF4-FFF2-40B4-BE49-F238E27FC236}">
                <a16:creationId xmlns:a16="http://schemas.microsoft.com/office/drawing/2014/main" id="{7F9D5FEC-DBD4-9B47-A8A2-76906CE8BBD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01539" y="3206328"/>
            <a:ext cx="1517464" cy="1141851"/>
          </a:xfrm>
        </p:spPr>
        <p:txBody>
          <a:bodyPr>
            <a:spAutoFit/>
          </a:bodyPr>
          <a:lstStyle>
            <a:lvl1pPr>
              <a:buFont typeface="Wingdings" pitchFamily="2" charset="2"/>
              <a:buChar char="v"/>
              <a:defRPr sz="12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소제목</a:t>
            </a:r>
            <a:r>
              <a:rPr kumimoji="1" lang="ko-KR" altLang="en-US" dirty="0"/>
              <a:t>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en-US" altLang="ko-KR" dirty="0"/>
          </a:p>
          <a:p>
            <a:pPr lvl="0"/>
            <a:r>
              <a:rPr kumimoji="1" lang="ko-KR" altLang="en-US" dirty="0"/>
              <a:t>소제목 입력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622927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제목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8" name="내용 개체 틀 17">
            <a:extLst>
              <a:ext uri="{FF2B5EF4-FFF2-40B4-BE49-F238E27FC236}">
                <a16:creationId xmlns:a16="http://schemas.microsoft.com/office/drawing/2014/main" id="{11EB12BD-423E-D942-AA60-48E193A3A96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26392" y="3460960"/>
            <a:ext cx="7042151" cy="535531"/>
          </a:xfrm>
        </p:spPr>
        <p:txBody>
          <a:bodyPr wrap="square" anchor="ctr" anchorCtr="0">
            <a:spAutoFit/>
          </a:bodyPr>
          <a:lstStyle>
            <a:lvl1pPr>
              <a:buNone/>
              <a:defRPr sz="3200" b="1"/>
            </a:lvl1pPr>
          </a:lstStyle>
          <a:p>
            <a:pPr lvl="0"/>
            <a:r>
              <a:rPr kumimoji="1" lang="ko-KR" altLang="en-US" dirty="0"/>
              <a:t>마스터 텍스트</a:t>
            </a:r>
            <a:endParaRPr kumimoji="1" lang="ko-Kore-KR" altLang="en-US" dirty="0"/>
          </a:p>
        </p:txBody>
      </p:sp>
      <p:sp>
        <p:nvSpPr>
          <p:cNvPr id="24" name="내용 개체 틀 23">
            <a:extLst>
              <a:ext uri="{FF2B5EF4-FFF2-40B4-BE49-F238E27FC236}">
                <a16:creationId xmlns:a16="http://schemas.microsoft.com/office/drawing/2014/main" id="{F23B5EBD-C357-6E46-AC78-8CC3CDDA81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135357" y="4052353"/>
            <a:ext cx="7042151" cy="286232"/>
          </a:xfrm>
        </p:spPr>
        <p:txBody>
          <a:bodyPr anchor="ctr" anchorCtr="0">
            <a:spAutoFit/>
          </a:bodyPr>
          <a:lstStyle>
            <a:lvl1pPr>
              <a:buNone/>
              <a:defRPr sz="1400"/>
            </a:lvl1pPr>
          </a:lstStyle>
          <a:p>
            <a:pPr lvl="0"/>
            <a:r>
              <a:rPr kumimoji="1" lang="ko-KR" altLang="en-US" dirty="0"/>
              <a:t>서브 타이틀이 들어가는 자리</a:t>
            </a:r>
            <a:endParaRPr kumimoji="1" lang="ko-Kore-KR" altLang="en-US" dirty="0"/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E0BAA295-AF35-8640-9328-4A9C9801DDD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5839" y="2192410"/>
            <a:ext cx="1250576" cy="2723823"/>
          </a:xfrm>
        </p:spPr>
        <p:txBody>
          <a:bodyPr wrap="square" anchor="ctr" anchorCtr="0">
            <a:spAutoFit/>
          </a:bodyPr>
          <a:lstStyle>
            <a:lvl1pPr>
              <a:buNone/>
              <a:defRPr sz="19000" b="1">
                <a:solidFill>
                  <a:srgbClr val="54CFD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770392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본문">
    <p:bg>
      <p:bgPr>
        <a:solidFill>
          <a:srgbClr val="54CF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A2F3813-9611-B04C-98A8-B2680B4F5D3D}"/>
              </a:ext>
            </a:extLst>
          </p:cNvPr>
          <p:cNvSpPr/>
          <p:nvPr userDrawn="1"/>
        </p:nvSpPr>
        <p:spPr>
          <a:xfrm>
            <a:off x="0" y="0"/>
            <a:ext cx="12192000" cy="65805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2B818-9085-8741-86C8-47EEDB5B7B65}"/>
              </a:ext>
            </a:extLst>
          </p:cNvPr>
          <p:cNvSpPr txBox="1"/>
          <p:nvPr userDrawn="1"/>
        </p:nvSpPr>
        <p:spPr>
          <a:xfrm>
            <a:off x="845794" y="6580541"/>
            <a:ext cx="26280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ore-KR" sz="1200" dirty="0"/>
              <a:t>copyright © </a:t>
            </a:r>
            <a:r>
              <a:rPr kumimoji="1" lang="en-US" altLang="ko-Kore-KR" sz="1200" dirty="0" err="1"/>
              <a:t>Devedu</a:t>
            </a:r>
            <a:r>
              <a:rPr kumimoji="1" lang="en-US" altLang="ko-Kore-KR" sz="1200" dirty="0"/>
              <a:t>. all rights reserved</a:t>
            </a:r>
            <a:endParaRPr kumimoji="1" lang="ko-Kore-KR" altLang="en-US" sz="1200" dirty="0"/>
          </a:p>
        </p:txBody>
      </p:sp>
      <p:sp>
        <p:nvSpPr>
          <p:cNvPr id="32" name="슬라이드 번호 개체 틀 5">
            <a:extLst>
              <a:ext uri="{FF2B5EF4-FFF2-40B4-BE49-F238E27FC236}">
                <a16:creationId xmlns:a16="http://schemas.microsoft.com/office/drawing/2014/main" id="{DCAFC4AF-F07B-A642-980A-FCEAB01B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85218"/>
            <a:ext cx="2743200" cy="276999"/>
          </a:xfrm>
        </p:spPr>
        <p:txBody>
          <a:bodyPr>
            <a:spAutoFit/>
          </a:bodyPr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7C1A53BE-79A1-1443-B395-F66226A9E860}"/>
              </a:ext>
            </a:extLst>
          </p:cNvPr>
          <p:cNvSpPr/>
          <p:nvPr userDrawn="1"/>
        </p:nvSpPr>
        <p:spPr>
          <a:xfrm>
            <a:off x="521264" y="389103"/>
            <a:ext cx="564022" cy="564022"/>
          </a:xfrm>
          <a:prstGeom prst="diamond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n>
                <a:noFill/>
              </a:ln>
            </a:endParaRPr>
          </a:p>
        </p:txBody>
      </p:sp>
      <p:sp>
        <p:nvSpPr>
          <p:cNvPr id="21" name="내용 개체 틀 20">
            <a:extLst>
              <a:ext uri="{FF2B5EF4-FFF2-40B4-BE49-F238E27FC236}">
                <a16:creationId xmlns:a16="http://schemas.microsoft.com/office/drawing/2014/main" id="{5CF5FC27-752C-4740-B570-7C440F0BF4F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3783" y="451302"/>
            <a:ext cx="564021" cy="424732"/>
          </a:xfrm>
        </p:spPr>
        <p:txBody>
          <a:bodyPr wrap="square" anchor="ctr" anchorCtr="0">
            <a:spAutoFit/>
          </a:bodyPr>
          <a:lstStyle>
            <a:lvl1pPr>
              <a:buNone/>
              <a:defRPr sz="2400"/>
            </a:lvl1pPr>
          </a:lstStyle>
          <a:p>
            <a:pPr lvl="0"/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23" name="내용 개체 틀 22">
            <a:extLst>
              <a:ext uri="{FF2B5EF4-FFF2-40B4-BE49-F238E27FC236}">
                <a16:creationId xmlns:a16="http://schemas.microsoft.com/office/drawing/2014/main" id="{9CBA9637-4268-E34F-A033-852CEB4858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170323" y="492852"/>
            <a:ext cx="7507512" cy="341632"/>
          </a:xfrm>
        </p:spPr>
        <p:txBody>
          <a:bodyPr wrap="square" anchor="ctr" anchorCtr="0">
            <a:spAutoFit/>
          </a:bodyPr>
          <a:lstStyle>
            <a:lvl1pPr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ko-Kore-KR" altLang="en-US" dirty="0"/>
              <a:t>내용을</a:t>
            </a:r>
            <a:r>
              <a:rPr kumimoji="1" lang="ko-KR" altLang="en-US" dirty="0"/>
              <a:t> 입력해주세요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062323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빈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A817A0-D2DA-6D49-A1AD-BB38A5F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30354D-EFF4-C740-B05B-ABA164468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CAB323-1000-AE42-8899-8B66CED31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0F8D6-EDB5-6642-890A-B46EEAB9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7161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99B43E-A874-4A44-9D5F-415AF744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0DB9CB-970A-4D4C-A927-880A96612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738FC-4C5D-4142-8C3F-84800D86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2D97F-9D10-D045-890B-2F59FC1AF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57B2E-769E-374D-B908-27DE43920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C8BCD-5B35-A34A-B22B-B82F0254BA7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71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8" r:id="rId1"/>
    <p:sldLayoutId id="2147484260" r:id="rId2"/>
    <p:sldLayoutId id="2147484267" r:id="rId3"/>
    <p:sldLayoutId id="214748426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0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4.xml"/><Relationship Id="rId5" Type="http://schemas.openxmlformats.org/officeDocument/2006/relationships/image" Target="../media/image37.png"/><Relationship Id="rId4" Type="http://schemas.openxmlformats.org/officeDocument/2006/relationships/customXml" Target="../ink/ink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6.xml"/><Relationship Id="rId5" Type="http://schemas.openxmlformats.org/officeDocument/2006/relationships/image" Target="../media/image37.png"/><Relationship Id="rId4" Type="http://schemas.openxmlformats.org/officeDocument/2006/relationships/customXml" Target="../ink/ink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F9C26C8-649C-D542-BAA7-BFA1E0C99AFE}"/>
              </a:ext>
            </a:extLst>
          </p:cNvPr>
          <p:cNvSpPr/>
          <p:nvPr/>
        </p:nvSpPr>
        <p:spPr>
          <a:xfrm>
            <a:off x="0" y="5715000"/>
            <a:ext cx="12192000" cy="970534"/>
          </a:xfrm>
          <a:prstGeom prst="rect">
            <a:avLst/>
          </a:prstGeom>
          <a:solidFill>
            <a:srgbClr val="54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FE8520-2EC0-DB4D-910F-FBCAECEE6417}"/>
              </a:ext>
            </a:extLst>
          </p:cNvPr>
          <p:cNvSpPr txBox="1"/>
          <p:nvPr/>
        </p:nvSpPr>
        <p:spPr>
          <a:xfrm>
            <a:off x="7816906" y="5804308"/>
            <a:ext cx="3938960" cy="52314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WEB </a:t>
            </a:r>
            <a:r>
              <a:rPr kumimoji="1" lang="ko-KR" altLang="en-US" sz="28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개발 기초 과정</a:t>
            </a:r>
            <a:endParaRPr kumimoji="1" lang="ko-Kore-KR" altLang="en-US" sz="28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AAB4F-A5D2-6149-8851-416CBF5FD9F3}"/>
              </a:ext>
            </a:extLst>
          </p:cNvPr>
          <p:cNvSpPr txBox="1"/>
          <p:nvPr/>
        </p:nvSpPr>
        <p:spPr>
          <a:xfrm>
            <a:off x="7532015" y="6240726"/>
            <a:ext cx="4199575" cy="33848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r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16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accent4">
                    <a:lumMod val="20000"/>
                    <a:lumOff val="8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HTML  /  CSS  /  JavaScript  /  Python</a:t>
            </a:r>
            <a:endParaRPr kumimoji="1" lang="ko-Kore-KR" altLang="en-US" sz="1600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accent4">
                  <a:lumMod val="20000"/>
                  <a:lumOff val="80000"/>
                </a:schemeClr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9A614E4-5B9B-6740-9E52-7F078C34E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1" y="382523"/>
            <a:ext cx="11598384" cy="48987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A652478-30A9-DD48-BF60-01AC02DCF526}"/>
              </a:ext>
            </a:extLst>
          </p:cNvPr>
          <p:cNvSpPr txBox="1"/>
          <p:nvPr/>
        </p:nvSpPr>
        <p:spPr>
          <a:xfrm>
            <a:off x="265234" y="5885229"/>
            <a:ext cx="7357463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02. HTML </a:t>
            </a:r>
            <a:r>
              <a:rPr kumimoji="1" lang="ko-KR" altLang="en-US" sz="36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기초</a:t>
            </a:r>
            <a:endParaRPr kumimoji="1" lang="ko-Kore-KR" altLang="en-US" sz="36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27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81D4D4C-79AE-5741-9EE3-F9E160AB4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DD83C97-C65D-AC4C-9587-0F15414405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09884" y="2644169"/>
            <a:ext cx="2486319" cy="923330"/>
          </a:xfrm>
        </p:spPr>
        <p:txBody>
          <a:bodyPr/>
          <a:lstStyle/>
          <a:p>
            <a:r>
              <a:rPr lang="en-US" altLang="ko-Kore-KR" dirty="0"/>
              <a:t>HTML</a:t>
            </a:r>
            <a:r>
              <a:rPr lang="ko-KR" altLang="en-US" dirty="0"/>
              <a:t> 문서의 구조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5159F52-4DC3-C14E-A3FF-8275A5498E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69961" y="2921168"/>
            <a:ext cx="548917" cy="369332"/>
          </a:xfrm>
        </p:spPr>
        <p:txBody>
          <a:bodyPr/>
          <a:lstStyle/>
          <a:p>
            <a:r>
              <a:rPr lang="en-US" altLang="ko-Kore-KR" dirty="0"/>
              <a:t>01.</a:t>
            </a:r>
            <a:endParaRPr lang="ko-Kore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D0D6870-BE24-754F-B707-3F36D5E0698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62506" y="2782669"/>
            <a:ext cx="2674815" cy="646331"/>
          </a:xfrm>
        </p:spPr>
        <p:txBody>
          <a:bodyPr/>
          <a:lstStyle/>
          <a:p>
            <a:r>
              <a:rPr lang="en-US" altLang="ko-Kore-KR" dirty="0"/>
              <a:t>HTML</a:t>
            </a:r>
            <a:r>
              <a:rPr lang="ko-KR" altLang="en-US" dirty="0"/>
              <a:t> </a:t>
            </a:r>
            <a:r>
              <a:rPr lang="ko-KR" altLang="en-US" dirty="0" err="1"/>
              <a:t>기본태그</a:t>
            </a:r>
            <a:endParaRPr lang="ko-Kore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CBF2AE7-B954-7441-B641-19B631CD462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022583" y="2921168"/>
            <a:ext cx="548917" cy="369332"/>
          </a:xfrm>
        </p:spPr>
        <p:txBody>
          <a:bodyPr/>
          <a:lstStyle/>
          <a:p>
            <a:r>
              <a:rPr lang="en-US" altLang="ko-Kore-KR" dirty="0"/>
              <a:t>02.</a:t>
            </a:r>
            <a:endParaRPr lang="ko-Kore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106D008-38D6-AE41-A137-5F5C0DA5E91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0462" y="3382009"/>
            <a:ext cx="1517464" cy="258532"/>
          </a:xfrm>
        </p:spPr>
        <p:txBody>
          <a:bodyPr/>
          <a:lstStyle/>
          <a:p>
            <a:endParaRPr lang="ko-Kore-KR" altLang="en-US" dirty="0"/>
          </a:p>
        </p:txBody>
      </p:sp>
      <p:sp>
        <p:nvSpPr>
          <p:cNvPr id="11" name="내용 개체 틀 7">
            <a:extLst>
              <a:ext uri="{FF2B5EF4-FFF2-40B4-BE49-F238E27FC236}">
                <a16:creationId xmlns:a16="http://schemas.microsoft.com/office/drawing/2014/main" id="{C9364EEB-4A14-4B4F-A52D-C386BB874589}"/>
              </a:ext>
            </a:extLst>
          </p:cNvPr>
          <p:cNvSpPr txBox="1">
            <a:spLocks/>
          </p:cNvSpPr>
          <p:nvPr/>
        </p:nvSpPr>
        <p:spPr>
          <a:xfrm>
            <a:off x="8570336" y="2921168"/>
            <a:ext cx="2674815" cy="3693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sp>
        <p:nvSpPr>
          <p:cNvPr id="12" name="내용 개체 틀 8">
            <a:extLst>
              <a:ext uri="{FF2B5EF4-FFF2-40B4-BE49-F238E27FC236}">
                <a16:creationId xmlns:a16="http://schemas.microsoft.com/office/drawing/2014/main" id="{A1249BB7-3F78-E24F-AEE8-DCECEE853EA3}"/>
              </a:ext>
            </a:extLst>
          </p:cNvPr>
          <p:cNvSpPr txBox="1">
            <a:spLocks/>
          </p:cNvSpPr>
          <p:nvPr/>
        </p:nvSpPr>
        <p:spPr>
          <a:xfrm>
            <a:off x="8130413" y="2921168"/>
            <a:ext cx="548917" cy="3693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rgbClr val="54CFD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dirty="0"/>
              <a:t>03.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34913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ko-Kore-KR" dirty="0"/>
              <a:t>HTML </a:t>
            </a:r>
            <a:r>
              <a:rPr lang="ko-KR" altLang="en-US" dirty="0"/>
              <a:t>문서의 구조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ore-KR" dirty="0"/>
              <a:t>1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E559ED-DD5B-F64A-8401-13187579CAF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83743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424C84-193E-A041-84A1-81B7E3B1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1E91E8-AE73-4543-AA6A-02BA79B85F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ore-KR" dirty="0"/>
              <a:t>0</a:t>
            </a:r>
            <a:r>
              <a:rPr lang="en-US" altLang="ko-KR" dirty="0"/>
              <a:t>1</a:t>
            </a:r>
            <a:endParaRPr lang="ko-Kore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8FBB28-2314-B540-8105-8E159B81130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ore-KR" dirty="0">
                <a:latin typeface="+mj-ea"/>
                <a:ea typeface="+mj-ea"/>
              </a:rPr>
              <a:t>HTML </a:t>
            </a:r>
            <a:r>
              <a:rPr lang="ko-KR" altLang="en-US" dirty="0">
                <a:latin typeface="+mj-ea"/>
                <a:ea typeface="+mj-ea"/>
              </a:rPr>
              <a:t>문서의 구조</a:t>
            </a:r>
            <a:endParaRPr lang="ko-Kore-KR" altLang="en-US" dirty="0">
              <a:latin typeface="+mj-ea"/>
              <a:ea typeface="+mj-ea"/>
            </a:endParaRPr>
          </a:p>
        </p:txBody>
      </p:sp>
      <p:pic>
        <p:nvPicPr>
          <p:cNvPr id="1026" name="Picture 2" descr="HTML 기본구조">
            <a:extLst>
              <a:ext uri="{FF2B5EF4-FFF2-40B4-BE49-F238E27FC236}">
                <a16:creationId xmlns:a16="http://schemas.microsoft.com/office/drawing/2014/main" id="{2552BA63-2049-4342-879F-1CAD29153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050" y="1174990"/>
            <a:ext cx="73279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36F195-3F0D-BD46-9FED-020B304081D6}"/>
              </a:ext>
            </a:extLst>
          </p:cNvPr>
          <p:cNvSpPr txBox="1"/>
          <p:nvPr/>
        </p:nvSpPr>
        <p:spPr>
          <a:xfrm>
            <a:off x="8610600" y="6323679"/>
            <a:ext cx="3594120" cy="2615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</a:t>
            </a:r>
            <a:r>
              <a:rPr kumimoji="1"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-US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http://</a:t>
            </a:r>
            <a:r>
              <a:rPr kumimoji="1" lang="en" altLang="ko-KR" sz="11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www.devkuma.com</a:t>
            </a:r>
            <a:r>
              <a:rPr kumimoji="1" lang="en" altLang="ko-KR" sz="11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/books/pages/115</a:t>
            </a:r>
            <a:endParaRPr kumimoji="1" lang="ko-Kore-KR" altLang="en-US" sz="11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026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424C84-193E-A041-84A1-81B7E3B1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1E91E8-AE73-4543-AA6A-02BA79B85F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ore-KR" dirty="0"/>
              <a:t>0</a:t>
            </a:r>
            <a:r>
              <a:rPr lang="en-US" altLang="ko-KR" dirty="0"/>
              <a:t>1</a:t>
            </a:r>
            <a:endParaRPr lang="ko-Kore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8FBB28-2314-B540-8105-8E159B81130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ore-KR" dirty="0">
                <a:latin typeface="+mj-ea"/>
                <a:ea typeface="+mj-ea"/>
              </a:rPr>
              <a:t>HTML </a:t>
            </a:r>
            <a:r>
              <a:rPr lang="ko-KR" altLang="en-US" dirty="0">
                <a:latin typeface="+mj-ea"/>
                <a:ea typeface="+mj-ea"/>
              </a:rPr>
              <a:t>문서의 구조</a:t>
            </a:r>
            <a:endParaRPr lang="ko-Kore-KR" altLang="en-US" dirty="0">
              <a:latin typeface="+mj-ea"/>
              <a:ea typeface="+mj-ea"/>
            </a:endParaRPr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3AE3E613-077E-0C47-BF83-A99936481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00" y="1308830"/>
            <a:ext cx="7734300" cy="4483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6D8E099B-FA74-B247-8960-5D7871279711}"/>
                  </a:ext>
                </a:extLst>
              </p14:cNvPr>
              <p14:cNvContentPartPr/>
              <p14:nvPr/>
            </p14:nvContentPartPr>
            <p14:xfrm>
              <a:off x="2339844" y="2181055"/>
              <a:ext cx="356040" cy="792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6D8E099B-FA74-B247-8960-5D78712797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3844" y="2109055"/>
                <a:ext cx="42768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A7A21D61-B04E-AA40-81F3-47B39E6176BB}"/>
                  </a:ext>
                </a:extLst>
              </p14:cNvPr>
              <p14:cNvContentPartPr/>
              <p14:nvPr/>
            </p14:nvContentPartPr>
            <p14:xfrm>
              <a:off x="2317164" y="4135855"/>
              <a:ext cx="404640" cy="2520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A7A21D61-B04E-AA40-81F3-47B39E6176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81524" y="4063855"/>
                <a:ext cx="4762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BDB87D02-6CB1-C74F-BC55-3464C1FF97E6}"/>
                  </a:ext>
                </a:extLst>
              </p14:cNvPr>
              <p14:cNvContentPartPr/>
              <p14:nvPr/>
            </p14:nvContentPartPr>
            <p14:xfrm>
              <a:off x="2324004" y="2745895"/>
              <a:ext cx="403560" cy="219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BDB87D02-6CB1-C74F-BC55-3464C1FF97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88364" y="2673895"/>
                <a:ext cx="4752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D48B8FAC-528C-864D-9F52-D51F460D5C64}"/>
                  </a:ext>
                </a:extLst>
              </p14:cNvPr>
              <p14:cNvContentPartPr/>
              <p14:nvPr/>
            </p14:nvContentPartPr>
            <p14:xfrm>
              <a:off x="2325804" y="3860455"/>
              <a:ext cx="407880" cy="1512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D48B8FAC-528C-864D-9F52-D51F460D5C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89804" y="3788455"/>
                <a:ext cx="47952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7C1DD7E6-5E56-0745-A8BB-CDF85563B890}"/>
                  </a:ext>
                </a:extLst>
              </p14:cNvPr>
              <p14:cNvContentPartPr/>
              <p14:nvPr/>
            </p14:nvContentPartPr>
            <p14:xfrm>
              <a:off x="2305284" y="4417015"/>
              <a:ext cx="431280" cy="756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7C1DD7E6-5E56-0745-A8BB-CDF85563B8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69644" y="4345015"/>
                <a:ext cx="5029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A3FC8236-0C98-864E-9EA4-247CAA6FF62C}"/>
                  </a:ext>
                </a:extLst>
              </p14:cNvPr>
              <p14:cNvContentPartPr/>
              <p14:nvPr/>
            </p14:nvContentPartPr>
            <p14:xfrm>
              <a:off x="2309244" y="5245015"/>
              <a:ext cx="405360" cy="1872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A3FC8236-0C98-864E-9EA4-247CAA6FF62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73604" y="5173375"/>
                <a:ext cx="4770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86DD084E-7698-BD47-A05D-D1A9E1DB0168}"/>
                  </a:ext>
                </a:extLst>
              </p14:cNvPr>
              <p14:cNvContentPartPr/>
              <p14:nvPr/>
            </p14:nvContentPartPr>
            <p14:xfrm>
              <a:off x="2304924" y="1889455"/>
              <a:ext cx="416160" cy="1800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86DD084E-7698-BD47-A05D-D1A9E1DB016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69284" y="1817455"/>
                <a:ext cx="48780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078E08C8-C18C-7746-BE44-776F13F5B96F}"/>
                  </a:ext>
                </a:extLst>
              </p14:cNvPr>
              <p14:cNvContentPartPr/>
              <p14:nvPr/>
            </p14:nvContentPartPr>
            <p14:xfrm>
              <a:off x="2331564" y="5571895"/>
              <a:ext cx="443880" cy="36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078E08C8-C18C-7746-BE44-776F13F5B96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95564" y="5499895"/>
                <a:ext cx="51552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574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424C84-193E-A041-84A1-81B7E3B1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1E91E8-AE73-4543-AA6A-02BA79B85F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ore-KR" dirty="0"/>
              <a:t>0</a:t>
            </a:r>
            <a:r>
              <a:rPr lang="en-US" altLang="ko-KR" dirty="0"/>
              <a:t>1</a:t>
            </a:r>
            <a:endParaRPr lang="ko-Kore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F8FBB28-2314-B540-8105-8E159B81130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ore-KR" dirty="0">
                <a:latin typeface="+mj-ea"/>
                <a:ea typeface="+mj-ea"/>
              </a:rPr>
              <a:t>HTML </a:t>
            </a:r>
            <a:r>
              <a:rPr lang="ko-KR" altLang="en-US" dirty="0">
                <a:latin typeface="+mj-ea"/>
                <a:ea typeface="+mj-ea"/>
              </a:rPr>
              <a:t>문서의 구조</a:t>
            </a:r>
            <a:endParaRPr lang="ko-Kore-KR" altLang="en-US" dirty="0">
              <a:latin typeface="+mj-ea"/>
              <a:ea typeface="+mj-ea"/>
            </a:endParaRPr>
          </a:p>
        </p:txBody>
      </p:sp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73D2DBD-C8E8-EE4A-9403-88BD38FA1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468" y="1918656"/>
            <a:ext cx="8883063" cy="247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83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943952-16C9-9A4E-B1CD-9148A792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5EB12-CEA3-1142-9ACE-D707A28E3A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52956C-C5C8-AD47-8938-5565CE25C2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문서의 구조</a:t>
            </a:r>
            <a:endParaRPr lang="ko-Kore-KR" altLang="en-US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979AD-8768-7B47-8327-DDFDBFE8AF32}"/>
              </a:ext>
            </a:extLst>
          </p:cNvPr>
          <p:cNvSpPr txBox="1"/>
          <p:nvPr/>
        </p:nvSpPr>
        <p:spPr>
          <a:xfrm>
            <a:off x="685164" y="1254266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&lt;!DOCTYPE html&gt;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1F757-A277-D146-B8E5-43B4F7508757}"/>
              </a:ext>
            </a:extLst>
          </p:cNvPr>
          <p:cNvSpPr txBox="1"/>
          <p:nvPr/>
        </p:nvSpPr>
        <p:spPr>
          <a:xfrm>
            <a:off x="698325" y="1705326"/>
            <a:ext cx="10882051" cy="1077147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“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문서 형식 선언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” 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특정 문서 형식 정의를 따름을 지정하는 것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dirty="0" err="1">
                <a:solidFill>
                  <a:schemeClr val="bg1"/>
                </a:solidFill>
                <a:latin typeface="+mj-ea"/>
                <a:ea typeface="+mj-ea"/>
              </a:rPr>
              <a:t>버전별로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 지원하는 태그가 다르기 때문에 브라우저에게 해석하고자 하는 버전을 알려줌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lang="en" altLang="ko-Kore-KR" dirty="0">
                <a:solidFill>
                  <a:schemeClr val="bg1"/>
                </a:solidFill>
                <a:latin typeface="+mj-ea"/>
                <a:ea typeface="+mj-ea"/>
              </a:rPr>
              <a:t>Ex) HTML 5, HTML 4.01 Strict, XHTML 1.1 …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86957-E241-E845-9818-ED4AED99DF7F}"/>
              </a:ext>
            </a:extLst>
          </p:cNvPr>
          <p:cNvSpPr txBox="1"/>
          <p:nvPr/>
        </p:nvSpPr>
        <p:spPr>
          <a:xfrm>
            <a:off x="685164" y="3053526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&lt;html&gt;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27E19-A02D-6541-ABB8-4A8DE36B2FCE}"/>
              </a:ext>
            </a:extLst>
          </p:cNvPr>
          <p:cNvSpPr txBox="1"/>
          <p:nvPr/>
        </p:nvSpPr>
        <p:spPr>
          <a:xfrm>
            <a:off x="690233" y="3504586"/>
            <a:ext cx="1088205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&lt;html&gt; … &lt;/html&gt; :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ore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HTML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문서의 시작과 끝을 나타냄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C6839-0AAC-0D47-B407-75C5E9C3836F}"/>
              </a:ext>
            </a:extLst>
          </p:cNvPr>
          <p:cNvSpPr txBox="1"/>
          <p:nvPr/>
        </p:nvSpPr>
        <p:spPr>
          <a:xfrm>
            <a:off x="685164" y="4129766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&lt;body&gt;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25EF3-90CF-6948-AFDB-52A66A82474B}"/>
              </a:ext>
            </a:extLst>
          </p:cNvPr>
          <p:cNvSpPr txBox="1"/>
          <p:nvPr/>
        </p:nvSpPr>
        <p:spPr>
          <a:xfrm>
            <a:off x="690233" y="4580826"/>
            <a:ext cx="1088205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브라우저에 표시되는 내용이 들어감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C8C33-B97B-DC42-98BF-7FA6CD9686A9}"/>
              </a:ext>
            </a:extLst>
          </p:cNvPr>
          <p:cNvSpPr txBox="1"/>
          <p:nvPr/>
        </p:nvSpPr>
        <p:spPr>
          <a:xfrm>
            <a:off x="685164" y="5181730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&lt;h3&gt;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A841A7-9DDF-DE44-BD95-5E882F4CCA12}"/>
              </a:ext>
            </a:extLst>
          </p:cNvPr>
          <p:cNvSpPr txBox="1"/>
          <p:nvPr/>
        </p:nvSpPr>
        <p:spPr>
          <a:xfrm>
            <a:off x="690233" y="5632790"/>
            <a:ext cx="10882051" cy="723204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문서에서 글 제목 표현에 사용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Bold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가 적용되어 있으며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&lt;h1&gt; ~ &lt;h6&gt;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총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6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개가 있다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660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943952-16C9-9A4E-B1CD-9148A792A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75EB12-CEA3-1142-9ACE-D707A28E3A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B52956C-C5C8-AD47-8938-5565CE25C25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문서의 구조</a:t>
            </a:r>
            <a:endParaRPr lang="ko-Kore-KR" altLang="en-US" dirty="0">
              <a:latin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979AD-8768-7B47-8327-DDFDBFE8AF32}"/>
              </a:ext>
            </a:extLst>
          </p:cNvPr>
          <p:cNvSpPr txBox="1"/>
          <p:nvPr/>
        </p:nvSpPr>
        <p:spPr>
          <a:xfrm>
            <a:off x="685164" y="1254266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&lt;p</a:t>
            </a: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1F757-A277-D146-B8E5-43B4F7508757}"/>
              </a:ext>
            </a:extLst>
          </p:cNvPr>
          <p:cNvSpPr txBox="1"/>
          <p:nvPr/>
        </p:nvSpPr>
        <p:spPr>
          <a:xfrm>
            <a:off x="698325" y="1705326"/>
            <a:ext cx="1088205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단락을 표현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86957-E241-E845-9818-ED4AED99DF7F}"/>
              </a:ext>
            </a:extLst>
          </p:cNvPr>
          <p:cNvSpPr txBox="1"/>
          <p:nvPr/>
        </p:nvSpPr>
        <p:spPr>
          <a:xfrm>
            <a:off x="685164" y="2309738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&lt;head&gt;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27E19-A02D-6541-ABB8-4A8DE36B2FCE}"/>
              </a:ext>
            </a:extLst>
          </p:cNvPr>
          <p:cNvSpPr txBox="1"/>
          <p:nvPr/>
        </p:nvSpPr>
        <p:spPr>
          <a:xfrm>
            <a:off x="690233" y="2760798"/>
            <a:ext cx="10882051" cy="646260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브라우저에 바로 보여 지진 않지만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CSS 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자바스크립트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jQuery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등 프로그램 코드 또는 파일을 </a:t>
            </a:r>
            <a:r>
              <a:rPr kumimoji="1" lang="ko-KR" altLang="en-US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54CFD1"/>
                </a:solidFill>
                <a:latin typeface="+mj-ea"/>
                <a:ea typeface="+mj-ea"/>
                <a:cs typeface="Arial" panose="020B0604020202020204" pitchFamily="34" charset="0"/>
              </a:rPr>
              <a:t>연결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하거나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,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한글 문자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SET,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웹브라우저의 제목 설정에 사용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C6839-0AAC-0D47-B407-75C5E9C3836F}"/>
              </a:ext>
            </a:extLst>
          </p:cNvPr>
          <p:cNvSpPr txBox="1"/>
          <p:nvPr/>
        </p:nvSpPr>
        <p:spPr>
          <a:xfrm>
            <a:off x="685164" y="3633748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&lt;meta&gt;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425EF3-90CF-6948-AFDB-52A66A82474B}"/>
              </a:ext>
            </a:extLst>
          </p:cNvPr>
          <p:cNvSpPr txBox="1"/>
          <p:nvPr/>
        </p:nvSpPr>
        <p:spPr>
          <a:xfrm>
            <a:off x="690233" y="4084808"/>
            <a:ext cx="10882051" cy="1000203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문서 그 자체를 설명하는 태그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.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" altLang="ko-Kore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html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문서가 어떤 내용을 담고 있고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그 문서의 핵심 키워드는 무엇이며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누가 만들었는지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문자 세트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언어설정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는 어떤 것을 사용하는지 등의 정보를 담고 있는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C8C33-B97B-DC42-98BF-7FA6CD9686A9}"/>
              </a:ext>
            </a:extLst>
          </p:cNvPr>
          <p:cNvSpPr txBox="1"/>
          <p:nvPr/>
        </p:nvSpPr>
        <p:spPr>
          <a:xfrm>
            <a:off x="685164" y="5318585"/>
            <a:ext cx="222509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highlight>
                  <a:srgbClr val="6C92D1"/>
                </a:highlight>
                <a:latin typeface="맑은 고딕" pitchFamily="50" charset="-127"/>
                <a:cs typeface="Arial" panose="020B0604020202020204" pitchFamily="34" charset="0"/>
              </a:rPr>
              <a:t>&lt;style&gt;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highlight>
                <a:srgbClr val="6C92D1"/>
              </a:highlight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A841A7-9DDF-DE44-BD95-5E882F4CCA12}"/>
              </a:ext>
            </a:extLst>
          </p:cNvPr>
          <p:cNvSpPr txBox="1"/>
          <p:nvPr/>
        </p:nvSpPr>
        <p:spPr>
          <a:xfrm>
            <a:off x="690233" y="5769645"/>
            <a:ext cx="10882051" cy="369261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HTML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을 꾸미는 </a:t>
            </a:r>
            <a:r>
              <a:rPr kumimoji="1" lang="en-US" altLang="ko-KR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CSS(Cascading Style Sheets)</a:t>
            </a:r>
            <a:r>
              <a:rPr kumimoji="1" lang="ko-KR" altLang="en-US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j-ea"/>
                <a:ea typeface="+mj-ea"/>
                <a:cs typeface="Arial" panose="020B0604020202020204" pitchFamily="34" charset="0"/>
              </a:rPr>
              <a:t> 코드가 들어감</a:t>
            </a:r>
            <a:endParaRPr kumimoji="1" lang="ko-Kore-KR" altLang="en-US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0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문서의 구조</a:t>
            </a:r>
            <a:endParaRPr lang="ko-Kore-KR" altLang="en-US" dirty="0">
              <a:latin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FD78136-827C-C54C-AFD3-9C236659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606" y="1369059"/>
            <a:ext cx="5855655" cy="4303147"/>
          </a:xfrm>
          <a:prstGeom prst="rect">
            <a:avLst/>
          </a:prstGeom>
        </p:spPr>
      </p:pic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898989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b="0" dirty="0">
                <a:latin typeface="+mj-ea"/>
                <a:ea typeface="+mj-ea"/>
              </a:rPr>
              <a:t>head </a:t>
            </a:r>
            <a:r>
              <a:rPr lang="ko-KR" altLang="en-US" sz="1600" b="0" dirty="0">
                <a:latin typeface="+mj-ea"/>
                <a:ea typeface="+mj-ea"/>
              </a:rPr>
              <a:t>안의 </a:t>
            </a:r>
            <a:r>
              <a:rPr lang="en-US" altLang="ko-KR" sz="1600" b="0" dirty="0">
                <a:latin typeface="+mj-ea"/>
                <a:ea typeface="+mj-ea"/>
              </a:rPr>
              <a:t>title </a:t>
            </a:r>
            <a:r>
              <a:rPr lang="ko-KR" altLang="en-US" sz="1600" b="0" dirty="0">
                <a:latin typeface="+mj-ea"/>
                <a:ea typeface="+mj-ea"/>
              </a:rPr>
              <a:t>태그</a:t>
            </a:r>
            <a:endParaRPr lang="ko-Kore-KR" altLang="en-US" sz="16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2521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1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문서의 구조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898989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0" dirty="0">
                <a:latin typeface="+mj-ea"/>
                <a:ea typeface="+mj-ea"/>
              </a:rPr>
              <a:t>주석</a:t>
            </a:r>
            <a:endParaRPr lang="ko-Kore-KR" altLang="en-US" sz="1600" b="0" dirty="0">
              <a:latin typeface="+mj-ea"/>
              <a:ea typeface="+mj-ea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76AA5A2B-1E86-4845-9E14-484A563BD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088" y="1488935"/>
            <a:ext cx="8515823" cy="427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en-US" altLang="ko-Kore-KR" dirty="0"/>
              <a:t>HTML</a:t>
            </a:r>
            <a:r>
              <a:rPr lang="ko-KR" altLang="en-US" dirty="0"/>
              <a:t> 기본 태그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87176-4B23-2644-98E6-13F4D502BE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16134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1F1C25E-7000-5347-BC66-26E839F96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50" y="1393613"/>
            <a:ext cx="10299700" cy="426720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14968DBD-8F1C-4D48-9B29-F5FB5C911162}"/>
              </a:ext>
            </a:extLst>
          </p:cNvPr>
          <p:cNvSpPr txBox="1">
            <a:spLocks/>
          </p:cNvSpPr>
          <p:nvPr/>
        </p:nvSpPr>
        <p:spPr>
          <a:xfrm>
            <a:off x="1170323" y="10796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글 제목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–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&lt;h1&gt; ~ &lt;h6&gt;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1407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CSS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글자 크기와 색상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C2CC0E57-3E0A-E34E-A02D-34170357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3" y="2450880"/>
            <a:ext cx="10299700" cy="316230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4F8F6214-BDC7-6C42-9FFE-A8569EBE78DD}"/>
              </a:ext>
            </a:extLst>
          </p:cNvPr>
          <p:cNvSpPr txBox="1">
            <a:spLocks/>
          </p:cNvSpPr>
          <p:nvPr/>
        </p:nvSpPr>
        <p:spPr>
          <a:xfrm>
            <a:off x="1170323" y="1279285"/>
            <a:ext cx="9851354" cy="102156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b="0" dirty="0" err="1">
                <a:latin typeface="+mj-ea"/>
                <a:ea typeface="+mj-ea"/>
              </a:rPr>
              <a:t>종속형</a:t>
            </a:r>
            <a:r>
              <a:rPr lang="ko-KR" altLang="en-US" sz="1400" b="0" dirty="0">
                <a:latin typeface="+mj-ea"/>
                <a:ea typeface="+mj-ea"/>
              </a:rPr>
              <a:t> 시트 또는 </a:t>
            </a:r>
            <a:r>
              <a:rPr lang="ko-KR" altLang="en-US" sz="1400" b="0" dirty="0" err="1">
                <a:latin typeface="+mj-ea"/>
                <a:ea typeface="+mj-ea"/>
              </a:rPr>
              <a:t>캐스케이딩</a:t>
            </a:r>
            <a:r>
              <a:rPr lang="ko-KR" altLang="en-US" sz="1400" b="0" dirty="0">
                <a:latin typeface="+mj-ea"/>
                <a:ea typeface="+mj-ea"/>
              </a:rPr>
              <a:t> 스타일 시트</a:t>
            </a:r>
            <a:r>
              <a:rPr lang="en-US" altLang="ko-KR" sz="1400" b="0" dirty="0">
                <a:latin typeface="+mj-ea"/>
                <a:ea typeface="+mj-ea"/>
              </a:rPr>
              <a:t>(Cascading Style Sheets, CSS)</a:t>
            </a:r>
            <a:r>
              <a:rPr lang="ko-KR" altLang="en-US" sz="1400" b="0" dirty="0">
                <a:latin typeface="+mj-ea"/>
                <a:ea typeface="+mj-ea"/>
              </a:rPr>
              <a:t>는 </a:t>
            </a:r>
            <a:r>
              <a:rPr lang="ko-KR" altLang="en-US" sz="1400" b="0" dirty="0" err="1">
                <a:latin typeface="+mj-ea"/>
                <a:ea typeface="+mj-ea"/>
              </a:rPr>
              <a:t>마크업</a:t>
            </a:r>
            <a:r>
              <a:rPr lang="ko-KR" altLang="en-US" sz="1400" b="0" dirty="0">
                <a:latin typeface="+mj-ea"/>
                <a:ea typeface="+mj-ea"/>
              </a:rPr>
              <a:t> 언어가 실제 표시되는 방법을 기술하는 언어로</a:t>
            </a:r>
            <a:r>
              <a:rPr lang="en-US" altLang="ko-KR" sz="1400" b="0" dirty="0">
                <a:latin typeface="+mj-ea"/>
                <a:ea typeface="+mj-ea"/>
              </a:rPr>
              <a:t>, HTML</a:t>
            </a:r>
            <a:r>
              <a:rPr lang="ko-KR" altLang="en-US" sz="1400" b="0" dirty="0">
                <a:latin typeface="+mj-ea"/>
                <a:ea typeface="+mj-ea"/>
              </a:rPr>
              <a:t>과 </a:t>
            </a:r>
            <a:r>
              <a:rPr lang="en-US" altLang="ko-KR" sz="1400" b="0" dirty="0">
                <a:latin typeface="+mj-ea"/>
                <a:ea typeface="+mj-ea"/>
              </a:rPr>
              <a:t>XHTML</a:t>
            </a:r>
            <a:r>
              <a:rPr lang="ko-KR" altLang="en-US" sz="1400" b="0" dirty="0">
                <a:latin typeface="+mj-ea"/>
                <a:ea typeface="+mj-ea"/>
              </a:rPr>
              <a:t>에 주로 쓰이며</a:t>
            </a:r>
            <a:r>
              <a:rPr lang="en-US" altLang="ko-KR" sz="1400" b="0" dirty="0">
                <a:latin typeface="+mj-ea"/>
                <a:ea typeface="+mj-ea"/>
              </a:rPr>
              <a:t>, XML</a:t>
            </a:r>
            <a:r>
              <a:rPr lang="ko-KR" altLang="en-US" sz="1400" b="0" dirty="0">
                <a:latin typeface="+mj-ea"/>
                <a:ea typeface="+mj-ea"/>
              </a:rPr>
              <a:t>에서도 사용할 수 있다</a:t>
            </a:r>
            <a:r>
              <a:rPr lang="en-US" altLang="ko-KR" sz="1400" b="0" dirty="0">
                <a:latin typeface="+mj-ea"/>
                <a:ea typeface="+mj-ea"/>
              </a:rPr>
              <a:t>. W3C</a:t>
            </a:r>
            <a:r>
              <a:rPr lang="ko-KR" altLang="en-US" sz="1400" b="0" dirty="0">
                <a:latin typeface="+mj-ea"/>
                <a:ea typeface="+mj-ea"/>
              </a:rPr>
              <a:t>의 표준이며</a:t>
            </a:r>
            <a:r>
              <a:rPr lang="en-US" altLang="ko-KR" sz="1400" b="0" dirty="0">
                <a:latin typeface="+mj-ea"/>
                <a:ea typeface="+mj-ea"/>
              </a:rPr>
              <a:t>, </a:t>
            </a:r>
            <a:r>
              <a:rPr lang="ko-KR" altLang="en-US" sz="1400" b="0" dirty="0">
                <a:latin typeface="+mj-ea"/>
                <a:ea typeface="+mj-ea"/>
              </a:rPr>
              <a:t>레이아웃과 스타일을 정의할 때의 자유도가 높다</a:t>
            </a:r>
            <a:r>
              <a:rPr lang="en-US" altLang="ko-KR" sz="1400" b="0" dirty="0">
                <a:latin typeface="+mj-ea"/>
                <a:ea typeface="+mj-ea"/>
              </a:rPr>
              <a:t>.</a:t>
            </a:r>
            <a:endParaRPr lang="ko-Kore-KR" altLang="en-US" sz="14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2539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&lt;p&gt;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단락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79484F38-6F0E-6648-9784-5C13F4E56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72115"/>
            <a:ext cx="10363200" cy="4381500"/>
          </a:xfrm>
          <a:prstGeom prst="rect">
            <a:avLst/>
          </a:prstGeom>
        </p:spPr>
      </p:pic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5802F7A-BB91-9D4B-9816-EDC0E8EF98A0}"/>
              </a:ext>
            </a:extLst>
          </p:cNvPr>
          <p:cNvSpPr txBox="1">
            <a:spLocks/>
          </p:cNvSpPr>
          <p:nvPr/>
        </p:nvSpPr>
        <p:spPr>
          <a:xfrm>
            <a:off x="1170323" y="1323978"/>
            <a:ext cx="9851354" cy="3752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b="0" dirty="0">
                <a:latin typeface="+mj-ea"/>
                <a:ea typeface="+mj-ea"/>
              </a:rPr>
              <a:t>단락을 만드는데 사용하는 태그로</a:t>
            </a:r>
            <a:r>
              <a:rPr lang="en-US" altLang="ko-KR" sz="1400" b="0" dirty="0">
                <a:latin typeface="+mj-ea"/>
                <a:ea typeface="+mj-ea"/>
              </a:rPr>
              <a:t>,</a:t>
            </a:r>
            <a:r>
              <a:rPr lang="ko-KR" altLang="en-US" sz="1400" b="0" dirty="0">
                <a:latin typeface="+mj-ea"/>
                <a:ea typeface="+mj-ea"/>
              </a:rPr>
              <a:t> 빈 줄이 자동으로 생성된다</a:t>
            </a:r>
            <a:r>
              <a:rPr lang="en-US" altLang="ko-KR" sz="1400" b="0" dirty="0">
                <a:latin typeface="+mj-ea"/>
                <a:ea typeface="+mj-ea"/>
              </a:rPr>
              <a:t>.</a:t>
            </a:r>
            <a:endParaRPr lang="ko-Kore-KR" altLang="en-US" sz="14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74137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</a:t>
            </a:r>
            <a:r>
              <a:rPr lang="en-US" altLang="ko-KR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br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&gt; - </a:t>
            </a:r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줄바꿈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B76BD4AD-2C96-6741-A8E4-1106A419A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32" y="1585062"/>
            <a:ext cx="10363200" cy="3416300"/>
          </a:xfrm>
          <a:prstGeom prst="rect">
            <a:avLst/>
          </a:prstGeom>
        </p:spPr>
      </p:pic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8601717E-F5BC-5347-94CC-478635FC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3522" y="1574429"/>
            <a:ext cx="63246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299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특수문자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D14FB4E-91BD-E54C-8602-FE2096DC9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2412"/>
            <a:ext cx="103632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984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특수문자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1026" name="Picture 2" descr="9)HTML - 특수문자 : 네이버 블로그">
            <a:extLst>
              <a:ext uri="{FF2B5EF4-FFF2-40B4-BE49-F238E27FC236}">
                <a16:creationId xmlns:a16="http://schemas.microsoft.com/office/drawing/2014/main" id="{7031C6F9-1A64-9043-9007-A116B11EB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04" y="1822833"/>
            <a:ext cx="8176877" cy="4008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846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</a:t>
            </a:r>
            <a:r>
              <a:rPr lang="en-US" altLang="ko-KR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img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이미지 삽입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5945DAED-0865-BD4B-9C88-7F987B673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7438"/>
            <a:ext cx="103632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721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</a:t>
            </a:r>
            <a:r>
              <a:rPr lang="en-US" altLang="ko-KR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img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태그 속성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A82F85-B94C-3741-A681-947D53785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76671"/>
            <a:ext cx="8534400" cy="364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147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웹에서 </a:t>
            </a:r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사용가능한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이미지 파일 포맷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4098" name="Picture 2" descr="주요 이미지 포맷[형식/확장자] 개념 총정리 (jpg,gif,png,psd,ai 등) : 네이버 블로그">
            <a:extLst>
              <a:ext uri="{FF2B5EF4-FFF2-40B4-BE49-F238E27FC236}">
                <a16:creationId xmlns:a16="http://schemas.microsoft.com/office/drawing/2014/main" id="{3356A3CB-9B59-F443-9DD9-AA3164952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6969" y="1393677"/>
            <a:ext cx="4859080" cy="4859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CD44D7-D1E2-0F4E-8A20-70924B7C2A41}"/>
              </a:ext>
            </a:extLst>
          </p:cNvPr>
          <p:cNvSpPr txBox="1"/>
          <p:nvPr/>
        </p:nvSpPr>
        <p:spPr>
          <a:xfrm>
            <a:off x="8110503" y="6264204"/>
            <a:ext cx="4081497" cy="27692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출처</a:t>
            </a:r>
            <a:r>
              <a:rPr kumimoji="1" lang="en-US" altLang="ko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en" altLang="ko-Kore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https://</a:t>
            </a:r>
            <a:r>
              <a:rPr kumimoji="1" lang="en" altLang="ko-Kore-KR" sz="12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m.blog.naver.com</a:t>
            </a:r>
            <a:r>
              <a:rPr kumimoji="1" lang="en" altLang="ko-Kore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</a:t>
            </a:r>
            <a:r>
              <a:rPr kumimoji="1" lang="en" altLang="ko-Kore-KR" sz="12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sgjjojo</a:t>
            </a:r>
            <a:r>
              <a:rPr kumimoji="1" lang="en" altLang="ko-Kore-KR" sz="12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/221568650624</a:t>
            </a:r>
            <a:endParaRPr kumimoji="1" lang="ko-Kore-KR" altLang="en-US" sz="12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5B53E49-5467-E940-A926-F2EC66EA3945}"/>
                  </a:ext>
                </a:extLst>
              </p14:cNvPr>
              <p14:cNvContentPartPr/>
              <p14:nvPr/>
            </p14:nvContentPartPr>
            <p14:xfrm>
              <a:off x="5236619" y="4263564"/>
              <a:ext cx="282960" cy="1378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5B53E49-5467-E940-A926-F2EC66EA39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0619" y="4191564"/>
                <a:ext cx="35460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48F96841-2D21-7243-8F79-8815AECC31B7}"/>
                  </a:ext>
                </a:extLst>
              </p14:cNvPr>
              <p14:cNvContentPartPr/>
              <p14:nvPr/>
            </p14:nvContentPartPr>
            <p14:xfrm>
              <a:off x="5814419" y="2609004"/>
              <a:ext cx="234720" cy="1562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48F96841-2D21-7243-8F79-8815AECC31B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78779" y="2537004"/>
                <a:ext cx="3063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56482AD7-A7AF-D642-A9E0-7E5F01C3C60D}"/>
                  </a:ext>
                </a:extLst>
              </p14:cNvPr>
              <p14:cNvContentPartPr/>
              <p14:nvPr/>
            </p14:nvContentPartPr>
            <p14:xfrm>
              <a:off x="7704779" y="3024444"/>
              <a:ext cx="255600" cy="1609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56482AD7-A7AF-D642-A9E0-7E5F01C3C60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669139" y="2952444"/>
                <a:ext cx="3272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E4ACD063-8C2C-D148-921F-BAA128912128}"/>
                  </a:ext>
                </a:extLst>
              </p14:cNvPr>
              <p14:cNvContentPartPr/>
              <p14:nvPr/>
            </p14:nvContentPartPr>
            <p14:xfrm>
              <a:off x="7692899" y="4088244"/>
              <a:ext cx="320400" cy="21708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E4ACD063-8C2C-D148-921F-BAA12891212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56899" y="4016604"/>
                <a:ext cx="392040" cy="3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748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URL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주소와 경로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상대경로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16" name="그림 15" descr="텍스트이(가) 표시된 사진&#10;&#10;자동 생성된 설명">
            <a:extLst>
              <a:ext uri="{FF2B5EF4-FFF2-40B4-BE49-F238E27FC236}">
                <a16:creationId xmlns:a16="http://schemas.microsoft.com/office/drawing/2014/main" id="{FAA9A47B-B5CD-7746-966F-83CA69602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672" y="1532610"/>
            <a:ext cx="4836928" cy="455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5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URL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주소와 경로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상대경로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0F33EE65-2718-E44D-92CB-702B34BCC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1881719"/>
            <a:ext cx="10312400" cy="3949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2C9D23-0CA9-3544-95D5-FAD1662829D8}"/>
              </a:ext>
            </a:extLst>
          </p:cNvPr>
          <p:cNvSpPr txBox="1"/>
          <p:nvPr/>
        </p:nvSpPr>
        <p:spPr>
          <a:xfrm>
            <a:off x="6901283" y="2346198"/>
            <a:ext cx="2829487" cy="912038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highlight>
                  <a:srgbClr val="FFFF00"/>
                </a:highlight>
                <a:latin typeface="맑은 고딕" pitchFamily="50" charset="-127"/>
                <a:cs typeface="Arial" panose="020B0604020202020204" pitchFamily="34" charset="0"/>
              </a:rPr>
              <a:t>./ </a:t>
            </a:r>
            <a:r>
              <a:rPr kumimoji="1" lang="ko-KR" altLang="en-US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highlight>
                  <a:srgbClr val="FFFF00"/>
                </a:highlight>
                <a:latin typeface="맑은 고딕" pitchFamily="50" charset="-127"/>
                <a:cs typeface="Arial" panose="020B0604020202020204" pitchFamily="34" charset="0"/>
              </a:rPr>
              <a:t>  </a:t>
            </a:r>
            <a:r>
              <a:rPr kumimoji="1" lang="en-US" altLang="ko-Kore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현재 폴더</a:t>
            </a:r>
            <a:r>
              <a:rPr kumimoji="1" lang="en-US" altLang="ko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생략가능</a:t>
            </a:r>
            <a:r>
              <a:rPr kumimoji="1" lang="en-US" altLang="ko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)</a:t>
            </a:r>
          </a:p>
          <a:p>
            <a:pPr algn="l" defTabSz="912813" fontAlgn="base">
              <a:lnSpc>
                <a:spcPct val="200000"/>
              </a:lnSpc>
              <a:spcBef>
                <a:spcPts val="600"/>
              </a:spcBef>
              <a:spcAft>
                <a:spcPct val="0"/>
              </a:spcAft>
            </a:pPr>
            <a:r>
              <a:rPr kumimoji="1" lang="en-US" altLang="ko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highlight>
                  <a:srgbClr val="FFFF00"/>
                </a:highlight>
                <a:latin typeface="맑은 고딕" pitchFamily="50" charset="-127"/>
                <a:cs typeface="Arial" panose="020B0604020202020204" pitchFamily="34" charset="0"/>
              </a:rPr>
              <a:t>../</a:t>
            </a:r>
            <a:r>
              <a:rPr kumimoji="1" lang="ko-KR" altLang="en-US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highlight>
                  <a:srgbClr val="FFFF00"/>
                </a:highlight>
                <a:latin typeface="맑은 고딕" pitchFamily="50" charset="-127"/>
                <a:cs typeface="Arial" panose="020B0604020202020204" pitchFamily="34" charset="0"/>
              </a:rPr>
              <a:t>  </a:t>
            </a:r>
            <a:r>
              <a:rPr kumimoji="1" lang="en-US" altLang="ko-KR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</a:t>
            </a:r>
            <a:r>
              <a:rPr kumimoji="1" lang="ko-KR" altLang="en-US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상위 폴더</a:t>
            </a:r>
            <a:endParaRPr kumimoji="1" lang="ko-Kore-KR" altLang="en-US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E9BBFCAB-DFBA-FC42-9E2C-C84628B33FE0}"/>
              </a:ext>
            </a:extLst>
          </p:cNvPr>
          <p:cNvSpPr txBox="1">
            <a:spLocks/>
          </p:cNvSpPr>
          <p:nvPr/>
        </p:nvSpPr>
        <p:spPr>
          <a:xfrm>
            <a:off x="1191589" y="1317204"/>
            <a:ext cx="9851354" cy="3752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ore-KR" sz="1400" b="0" dirty="0">
                <a:latin typeface="+mj-ea"/>
                <a:ea typeface="+mj-ea"/>
              </a:rPr>
              <a:t>URL</a:t>
            </a:r>
            <a:r>
              <a:rPr lang="ko-KR" altLang="en-US" sz="1400" b="0" dirty="0">
                <a:latin typeface="+mj-ea"/>
                <a:ea typeface="+mj-ea"/>
              </a:rPr>
              <a:t>을 기술할 때 </a:t>
            </a:r>
            <a:r>
              <a:rPr lang="en-US" altLang="ko-KR" sz="1400" b="0" dirty="0">
                <a:latin typeface="+mj-ea"/>
                <a:ea typeface="+mj-ea"/>
              </a:rPr>
              <a:t>HTML</a:t>
            </a:r>
            <a:r>
              <a:rPr lang="ko-KR" altLang="en-US" sz="1400" b="0" dirty="0">
                <a:latin typeface="+mj-ea"/>
                <a:ea typeface="+mj-ea"/>
              </a:rPr>
              <a:t> 문서가 존재하는 위치</a:t>
            </a:r>
            <a:r>
              <a:rPr lang="en-US" altLang="ko-KR" sz="1400" b="0" dirty="0">
                <a:latin typeface="+mj-ea"/>
                <a:ea typeface="+mj-ea"/>
              </a:rPr>
              <a:t>,</a:t>
            </a:r>
            <a:r>
              <a:rPr lang="ko-KR" altLang="en-US" sz="1400" b="0" dirty="0">
                <a:latin typeface="+mj-ea"/>
                <a:ea typeface="+mj-ea"/>
              </a:rPr>
              <a:t> 즉 현재 폴더를 기준으로 경로를 설정하는 방식</a:t>
            </a:r>
            <a:endParaRPr lang="ko-Kore-KR" altLang="en-US" sz="1400" b="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6478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URL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주소와 경로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-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</a:t>
            </a:r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절대경로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E9BBFCAB-DFBA-FC42-9E2C-C84628B33FE0}"/>
              </a:ext>
            </a:extLst>
          </p:cNvPr>
          <p:cNvSpPr txBox="1">
            <a:spLocks/>
          </p:cNvSpPr>
          <p:nvPr/>
        </p:nvSpPr>
        <p:spPr>
          <a:xfrm>
            <a:off x="1191589" y="1317204"/>
            <a:ext cx="9851354" cy="37523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ore-KR" sz="1400" b="0" dirty="0">
                <a:latin typeface="+mj-ea"/>
                <a:ea typeface="+mj-ea"/>
              </a:rPr>
              <a:t>Http:// </a:t>
            </a:r>
            <a:r>
              <a:rPr lang="ko-KR" altLang="en-US" sz="1400" b="0" dirty="0">
                <a:latin typeface="+mj-ea"/>
                <a:ea typeface="+mj-ea"/>
              </a:rPr>
              <a:t>로 시작하는 도메인 네임이 포함된 인터넷상의 유일무이하고 절대적인 </a:t>
            </a:r>
            <a:r>
              <a:rPr lang="en-US" altLang="ko-KR" sz="1400" b="0" dirty="0">
                <a:latin typeface="+mj-ea"/>
                <a:ea typeface="+mj-ea"/>
              </a:rPr>
              <a:t>URL</a:t>
            </a:r>
            <a:r>
              <a:rPr lang="ko-KR" altLang="en-US" sz="1400" b="0" dirty="0">
                <a:latin typeface="+mj-ea"/>
                <a:ea typeface="+mj-ea"/>
              </a:rPr>
              <a:t>주소를 말한다</a:t>
            </a:r>
            <a:r>
              <a:rPr lang="en-US" altLang="ko-KR" sz="1400" b="0" dirty="0">
                <a:latin typeface="+mj-ea"/>
                <a:ea typeface="+mj-ea"/>
              </a:rPr>
              <a:t>.</a:t>
            </a:r>
            <a:endParaRPr lang="ko-Kore-KR" altLang="en-US" sz="1400" b="0" dirty="0"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B5CDF05-D292-DF45-9E09-123E39783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1993900"/>
            <a:ext cx="103124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66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audio – </a:t>
            </a:r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웹페이지에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오디오 삽입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453D487B-4C3A-0E46-BA88-C7A055946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727200"/>
            <a:ext cx="10248900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61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D1448269-DBF6-B54D-9332-0759D758A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690" y="876034"/>
            <a:ext cx="8938199" cy="5487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A1E9BB-9141-DB48-BBC5-9A6485BC6D8E}"/>
              </a:ext>
            </a:extLst>
          </p:cNvPr>
          <p:cNvSpPr txBox="1"/>
          <p:nvPr/>
        </p:nvSpPr>
        <p:spPr>
          <a:xfrm>
            <a:off x="5092995" y="5029200"/>
            <a:ext cx="4134332" cy="400039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크롬은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자동 재생을 허용하지 않음</a:t>
            </a:r>
            <a:endParaRPr kumimoji="1" lang="ko-Kore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3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ore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video – </a:t>
            </a:r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웹페이지에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비디오 삽입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96513348-89A4-2246-9060-E3905C784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746250"/>
            <a:ext cx="102108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65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27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EEC64CCE-ACC7-3443-A7D5-ECA93D662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323" y="834484"/>
            <a:ext cx="7028122" cy="565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28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&lt;ul&gt;, &lt;li&gt;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순서가 없는 목록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F74BEAE1-B189-EB4C-8709-00479AD3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50" y="1621489"/>
            <a:ext cx="10299700" cy="44577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3EBC17BB-3193-8043-B574-2D6F73D85C23}"/>
                  </a:ext>
                </a:extLst>
              </p14:cNvPr>
              <p14:cNvContentPartPr/>
              <p14:nvPr/>
            </p14:nvContentPartPr>
            <p14:xfrm>
              <a:off x="1593293" y="3809771"/>
              <a:ext cx="164520" cy="1234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3EBC17BB-3193-8043-B574-2D6F73D85C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7653" y="3737771"/>
                <a:ext cx="2361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01CC395-E978-D941-BE7B-3A4EC06869A3}"/>
                  </a:ext>
                </a:extLst>
              </p14:cNvPr>
              <p14:cNvContentPartPr/>
              <p14:nvPr/>
            </p14:nvContentPartPr>
            <p14:xfrm>
              <a:off x="1626053" y="5208011"/>
              <a:ext cx="177840" cy="1789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01CC395-E978-D941-BE7B-3A4EC06869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0413" y="5136011"/>
                <a:ext cx="249480" cy="3225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91B4623-FFE4-3B48-9C45-34D24F582801}"/>
              </a:ext>
            </a:extLst>
          </p:cNvPr>
          <p:cNvSpPr txBox="1"/>
          <p:nvPr/>
        </p:nvSpPr>
        <p:spPr>
          <a:xfrm>
            <a:off x="382532" y="3733231"/>
            <a:ext cx="1421361" cy="40003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  <a:cs typeface="Arial" panose="020B0604020202020204" pitchFamily="34" charset="0"/>
              </a:rPr>
              <a:t>목록의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  <a:cs typeface="Arial" panose="020B0604020202020204" pitchFamily="34" charset="0"/>
              </a:rPr>
              <a:t> 시작과 끝</a:t>
            </a:r>
            <a:endParaRPr kumimoji="1" lang="ko-Kore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F0000"/>
              </a:solidFill>
              <a:latin typeface="Nanum Brush Script" panose="03060600000000000000" pitchFamily="66" charset="-127"/>
              <a:ea typeface="Nanum Brush Script" panose="03060600000000000000" pitchFamily="66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403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8D5695F8-FED5-E647-B75A-568E21844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93" y="1580921"/>
            <a:ext cx="10299700" cy="4457700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29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&lt;</a:t>
            </a:r>
            <a:r>
              <a:rPr lang="en-US" altLang="ko-KR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ol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&gt;, &lt;li&gt; - 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순서가 있는 목록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3EBC17BB-3193-8043-B574-2D6F73D85C23}"/>
                  </a:ext>
                </a:extLst>
              </p14:cNvPr>
              <p14:cNvContentPartPr/>
              <p14:nvPr/>
            </p14:nvContentPartPr>
            <p14:xfrm>
              <a:off x="1593293" y="3809771"/>
              <a:ext cx="164520" cy="1234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3EBC17BB-3193-8043-B574-2D6F73D85C2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7653" y="3737771"/>
                <a:ext cx="2361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01CC395-E978-D941-BE7B-3A4EC06869A3}"/>
                  </a:ext>
                </a:extLst>
              </p14:cNvPr>
              <p14:cNvContentPartPr/>
              <p14:nvPr/>
            </p14:nvContentPartPr>
            <p14:xfrm>
              <a:off x="1626053" y="5208011"/>
              <a:ext cx="177840" cy="1789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01CC395-E978-D941-BE7B-3A4EC06869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0413" y="5136011"/>
                <a:ext cx="249480" cy="3225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91B4623-FFE4-3B48-9C45-34D24F582801}"/>
              </a:ext>
            </a:extLst>
          </p:cNvPr>
          <p:cNvSpPr txBox="1"/>
          <p:nvPr/>
        </p:nvSpPr>
        <p:spPr>
          <a:xfrm>
            <a:off x="382532" y="3733231"/>
            <a:ext cx="1421361" cy="400039"/>
          </a:xfrm>
          <a:prstGeom prst="rect">
            <a:avLst/>
          </a:prstGeom>
          <a:noFill/>
        </p:spPr>
        <p:txBody>
          <a:bodyPr wrap="square" lIns="91374" tIns="45685" rIns="91374" bIns="45685" rtlCol="0">
            <a:spAutoFit/>
          </a:bodyPr>
          <a:lstStyle/>
          <a:p>
            <a:pPr algn="l"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ore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  <a:cs typeface="Arial" panose="020B0604020202020204" pitchFamily="34" charset="0"/>
              </a:rPr>
              <a:t>목록의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Nanum Brush Script" panose="03060600000000000000" pitchFamily="66" charset="-127"/>
                <a:ea typeface="Nanum Brush Script" panose="03060600000000000000" pitchFamily="66" charset="-127"/>
                <a:cs typeface="Arial" panose="020B0604020202020204" pitchFamily="34" charset="0"/>
              </a:rPr>
              <a:t> 시작과 끝</a:t>
            </a:r>
            <a:endParaRPr kumimoji="1" lang="ko-Kore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FF0000"/>
              </a:solidFill>
              <a:latin typeface="Nanum Brush Script" panose="03060600000000000000" pitchFamily="66" charset="-127"/>
              <a:ea typeface="Nanum Brush Script" panose="03060600000000000000" pitchFamily="66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101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30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하이퍼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링크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873A1-9F25-C845-A0AE-5699E57B2B4C}"/>
              </a:ext>
            </a:extLst>
          </p:cNvPr>
          <p:cNvSpPr txBox="1"/>
          <p:nvPr/>
        </p:nvSpPr>
        <p:spPr>
          <a:xfrm>
            <a:off x="1170323" y="1532610"/>
            <a:ext cx="10148799" cy="3093084"/>
          </a:xfrm>
          <a:prstGeom prst="rect">
            <a:avLst/>
          </a:prstGeom>
          <a:noFill/>
        </p:spPr>
        <p:txBody>
          <a:bodyPr wrap="none" lIns="91374" tIns="45685" rIns="91374" bIns="45685" rtlCol="0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하이퍼링크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영어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 </a:t>
            </a:r>
            <a:r>
              <a:rPr kumimoji="1" lang="en" altLang="ko-Kore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hyperlink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또는 </a:t>
            </a:r>
            <a:r>
              <a:rPr kumimoji="1" lang="en" altLang="ko-Kore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link,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문화어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: 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초연결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하이퍼연결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)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는 하이퍼텍스트 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문서 안에서 직접 모든 형식의 자료를 연결하고 가리킬 수 있는 참조 고리이다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이를테면 동영상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음악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그림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프로그램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파일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글 등의 특정 위치를 지정할 수 있다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이는 하이퍼텍스트의 핵심 개념이며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, </a:t>
            </a:r>
            <a:r>
              <a:rPr kumimoji="1" lang="en" altLang="ko-Kore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HTML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을 비롯한 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마크업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언어에서 구현하고 있다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 </a:t>
            </a: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이 용어는 단순히 링크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(</a:t>
            </a:r>
            <a:r>
              <a:rPr kumimoji="1" lang="en" altLang="ko-Kore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link,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고리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)</a:t>
            </a:r>
            <a:r>
              <a:rPr kumimoji="1" lang="ko-KR" altLang="en-US" sz="2000" b="1" dirty="0" err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라고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 줄여 말하기도 한다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 </a:t>
            </a: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한마디로 누르면 </a:t>
            </a:r>
            <a:endParaRPr kumimoji="1" lang="en-US" altLang="ko-KR" sz="2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  <a:p>
            <a:pPr defTabSz="912813" fontAlgn="base">
              <a:spcBef>
                <a:spcPts val="600"/>
              </a:spcBef>
              <a:spcAft>
                <a:spcPct val="0"/>
              </a:spcAft>
            </a:pPr>
            <a:r>
              <a:rPr kumimoji="1" lang="ko-KR" altLang="en-US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웹 사이트나 프로그램 등으로 이동하는 것이다</a:t>
            </a:r>
            <a:r>
              <a:rPr kumimoji="1" lang="en-US" altLang="ko-KR" sz="20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</a:t>
            </a:r>
            <a:endParaRPr kumimoji="1" lang="ko-Kore-KR" altLang="en-US" sz="2000" b="1" dirty="0" err="1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900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31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3B5A9C00-BB5E-EA46-B588-13CBFC22C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105" y="834484"/>
            <a:ext cx="8946775" cy="563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79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32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하이퍼</a:t>
            </a:r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 링크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4C0895C2-15D5-0E40-9598-B48F1F402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695" y="457200"/>
            <a:ext cx="7526393" cy="4672937"/>
          </a:xfrm>
          <a:prstGeom prst="rect">
            <a:avLst/>
          </a:prstGeom>
        </p:spPr>
      </p:pic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B694A523-722A-684B-9BD9-0A218A1A4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328" y="5111849"/>
            <a:ext cx="7507513" cy="143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463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A7D45-296B-5F4A-B4C7-7EA45472CD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94024" y="3460960"/>
            <a:ext cx="7042151" cy="535531"/>
          </a:xfrm>
        </p:spPr>
        <p:txBody>
          <a:bodyPr/>
          <a:lstStyle/>
          <a:p>
            <a:r>
              <a:rPr lang="ko-KR" altLang="en-US" dirty="0"/>
              <a:t>프로젝트 실습</a:t>
            </a:r>
            <a:endParaRPr lang="ko-Kore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E95281-7B3F-3943-A8CD-F4D72E7B544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endParaRPr lang="ko-Kore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BEDE63-39BD-CC40-B540-B096441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33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487176-4B23-2644-98E6-13F4D502BE0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529947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34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프로젝트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01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11" name="그림 10" descr="텍스트이(가) 표시된 사진&#10;&#10;자동 생성된 설명">
            <a:extLst>
              <a:ext uri="{FF2B5EF4-FFF2-40B4-BE49-F238E27FC236}">
                <a16:creationId xmlns:a16="http://schemas.microsoft.com/office/drawing/2014/main" id="{E9946ACA-E7A3-C147-BDC4-64E0148D6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750" y="1488019"/>
            <a:ext cx="65405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40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35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프로젝트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02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6" name="그림 5" descr="텍스트, 고양이, 스크린샷, 포유류이(가) 표시된 사진&#10;&#10;자동 생성된 설명">
            <a:extLst>
              <a:ext uri="{FF2B5EF4-FFF2-40B4-BE49-F238E27FC236}">
                <a16:creationId xmlns:a16="http://schemas.microsoft.com/office/drawing/2014/main" id="{D24A353B-45EB-164E-8811-79183008A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050" y="912549"/>
            <a:ext cx="5716729" cy="567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57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62AD33-EF5E-BC43-A9F6-33BA49541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C8BCD-5B35-A34A-B22B-B82F0254BA7B}" type="slidenum">
              <a:rPr kumimoji="1" lang="ko-Kore-KR" altLang="en-US" smtClean="0"/>
              <a:t>36</a:t>
            </a:fld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DF9FDD-B898-F544-A612-372CD1D4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kumimoji="1" lang="en-US" altLang="ko-Kore-KR" dirty="0"/>
              <a:t>0</a:t>
            </a:r>
            <a:r>
              <a:rPr kumimoji="1" lang="en-US" altLang="ko-KR" dirty="0"/>
              <a:t>2</a:t>
            </a:r>
            <a:endParaRPr kumimoji="1" lang="ko-Kore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98886C-2FE8-634A-9369-AFE12AF12DD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70323" y="492852"/>
            <a:ext cx="7507512" cy="341632"/>
          </a:xfrm>
        </p:spPr>
        <p:txBody>
          <a:bodyPr/>
          <a:lstStyle/>
          <a:p>
            <a:r>
              <a:rPr lang="en-US" altLang="ko-Kore-KR" dirty="0">
                <a:latin typeface="+mj-ea"/>
              </a:rPr>
              <a:t>HTML </a:t>
            </a:r>
            <a:r>
              <a:rPr lang="ko-KR" altLang="en-US" dirty="0">
                <a:latin typeface="+mj-ea"/>
              </a:rPr>
              <a:t>기본 태그</a:t>
            </a:r>
            <a:endParaRPr lang="ko-Kore-KR" altLang="en-US" dirty="0">
              <a:latin typeface="+mj-ea"/>
            </a:endParaRPr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EA31CDC5-60A3-1447-A76D-E5F58E745141}"/>
              </a:ext>
            </a:extLst>
          </p:cNvPr>
          <p:cNvSpPr txBox="1">
            <a:spLocks/>
          </p:cNvSpPr>
          <p:nvPr/>
        </p:nvSpPr>
        <p:spPr>
          <a:xfrm>
            <a:off x="1170323" y="1026581"/>
            <a:ext cx="7507512" cy="313932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프로젝트 </a:t>
            </a:r>
            <a:r>
              <a:rPr lang="en-US" altLang="ko-KR" sz="1600" dirty="0">
                <a:solidFill>
                  <a:schemeClr val="tx1"/>
                </a:solidFill>
                <a:highlight>
                  <a:srgbClr val="6C92D1"/>
                </a:highlight>
                <a:latin typeface="+mj-ea"/>
                <a:ea typeface="+mj-ea"/>
              </a:rPr>
              <a:t>3</a:t>
            </a:r>
            <a:endParaRPr lang="ko-Kore-KR" altLang="en-US" sz="1600" dirty="0">
              <a:solidFill>
                <a:schemeClr val="tx1"/>
              </a:solidFill>
              <a:highlight>
                <a:srgbClr val="6C92D1"/>
              </a:highlight>
              <a:latin typeface="+mj-ea"/>
              <a:ea typeface="+mj-ea"/>
            </a:endParaRPr>
          </a:p>
        </p:txBody>
      </p:sp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29F19E68-334A-4C4F-8CF3-4048EAFD8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758" y="1026581"/>
            <a:ext cx="8545919" cy="53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96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91374" tIns="45685" rIns="91374" bIns="45685">
        <a:spAutoFit/>
      </a:bodyPr>
      <a:lstStyle>
        <a:defPPr algn="l" defTabSz="912813" fontAlgn="base">
          <a:spcBef>
            <a:spcPts val="600"/>
          </a:spcBef>
          <a:spcAft>
            <a:spcPct val="0"/>
          </a:spcAft>
          <a:defRPr kumimoji="1" sz="2000" b="1" dirty="0" err="1">
            <a:ln>
              <a:solidFill>
                <a:schemeClr val="bg1">
                  <a:lumMod val="85000"/>
                  <a:alpha val="0"/>
                </a:schemeClr>
              </a:solidFill>
            </a:ln>
            <a:solidFill>
              <a:srgbClr val="4B465E"/>
            </a:solidFill>
            <a:latin typeface="맑은 고딕" pitchFamily="50" charset="-127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2242</Words>
  <Application>Microsoft Macintosh PowerPoint</Application>
  <PresentationFormat>와이드스크린</PresentationFormat>
  <Paragraphs>424</Paragraphs>
  <Slides>36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맑은 고딕</vt:lpstr>
      <vt:lpstr>Nanum Brush Script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批量名称</dc:creator>
  <cp:lastModifiedBy>批量名称</cp:lastModifiedBy>
  <cp:revision>170</cp:revision>
  <dcterms:created xsi:type="dcterms:W3CDTF">2020-12-17T04:08:04Z</dcterms:created>
  <dcterms:modified xsi:type="dcterms:W3CDTF">2020-12-30T06:56:38Z</dcterms:modified>
</cp:coreProperties>
</file>